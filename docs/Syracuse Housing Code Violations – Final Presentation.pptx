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taticPath"/>
          <p:cNvSpPr/>
          <p:nvPr/>
        </p:nvSpPr>
        <p:spPr>
          <a:xfrm>
            <a:off x="2056019" y="-1222724"/>
            <a:ext cx="5032058" cy="5032058"/>
          </a:xfrm>
          <a:prstGeom prst="ellipse">
            <a:avLst/>
          </a:prstGeom>
          <a:solidFill>
            <a:srgbClr val="000000">
              <a:alpha val="6000"/>
            </a:srgbClr>
          </a:solidFill>
          <a:ln/>
        </p:spPr>
      </p:sp>
      <p:sp>
        <p:nvSpPr>
          <p:cNvPr id="3" name="Title"/>
          <p:cNvSpPr/>
          <p:nvPr/>
        </p:nvSpPr>
        <p:spPr>
          <a:xfrm>
            <a:off x="758381" y="2122408"/>
            <a:ext cx="7620000" cy="1000030"/>
          </a:xfrm>
          <a:prstGeom prst="rect">
            <a:avLst/>
          </a:prstGeom>
          <a:noFill/>
          <a:ln/>
        </p:spPr>
        <p:txBody>
          <a:bodyPr wrap="square" rtlCol="0" anchor="ctr"/>
          <a:lstStyle/>
          <a:p>
            <a:pPr algn="ctr" indent="0" marL="0">
              <a:buNone/>
            </a:pPr>
            <a:r>
              <a:rPr lang="en-US" sz="3097" b="1" dirty="0">
                <a:solidFill>
                  <a:srgbClr val="000000"/>
                </a:solidFill>
                <a:latin typeface="OpenSans-Bold" pitchFamily="34" charset="0"/>
                <a:ea typeface="OpenSans-Bold" pitchFamily="34" charset="-122"/>
                <a:cs typeface="OpenSans-Bold" pitchFamily="34" charset="-120"/>
              </a:rPr>
              <a:t>Syracuse Housing Code Violations Dashboard</a:t>
            </a:r>
            <a:endParaRPr lang="en-US" sz="3097" dirty="0"/>
          </a:p>
        </p:txBody>
      </p:sp>
      <p:sp>
        <p:nvSpPr>
          <p:cNvPr id="4" name="StaticPath"/>
          <p:cNvSpPr/>
          <p:nvPr/>
        </p:nvSpPr>
        <p:spPr>
          <a:xfrm>
            <a:off x="7190137" y="3357658"/>
            <a:ext cx="2394585" cy="2394585"/>
          </a:xfrm>
          <a:prstGeom prst="ellipse">
            <a:avLst/>
          </a:prstGeom>
          <a:solidFill>
            <a:srgbClr val="000000">
              <a:alpha val="0"/>
            </a:srgbClr>
          </a:solidFill>
          <a:ln w="423333">
            <a:solidFill>
              <a:srgbClr val="FF9800"/>
            </a:solidFill>
            <a:prstDash val="solid"/>
          </a:ln>
        </p:spPr>
      </p:sp>
      <p:sp>
        <p:nvSpPr>
          <p:cNvPr id="5" name="StaticPath"/>
          <p:cNvSpPr/>
          <p:nvPr/>
        </p:nvSpPr>
        <p:spPr>
          <a:xfrm>
            <a:off x="-957929" y="-1222724"/>
            <a:ext cx="1991678" cy="1991677"/>
          </a:xfrm>
          <a:prstGeom prst="ellipse">
            <a:avLst/>
          </a:prstGeom>
          <a:solidFill>
            <a:srgbClr val="000000">
              <a:alpha val="0"/>
            </a:srgbClr>
          </a:solidFill>
          <a:ln w="423333">
            <a:solidFill>
              <a:srgbClr val="FF9800"/>
            </a:solidFill>
            <a:prstDash val="solid"/>
          </a:ln>
        </p:spPr>
      </p:sp>
      <p:sp>
        <p:nvSpPr>
          <p:cNvPr id="6" name="StaticPath"/>
          <p:cNvSpPr/>
          <p:nvPr/>
        </p:nvSpPr>
        <p:spPr>
          <a:xfrm>
            <a:off x="303609" y="4340114"/>
            <a:ext cx="571500" cy="571500"/>
          </a:xfrm>
          <a:prstGeom prst="ellipse">
            <a:avLst/>
          </a:prstGeom>
          <a:solidFill>
            <a:srgbClr val="000000"/>
          </a:solidFill>
          <a:ln/>
        </p:spPr>
      </p:sp>
      <p:sp>
        <p:nvSpPr>
          <p:cNvPr id="7" name="StaticPath"/>
          <p:cNvSpPr/>
          <p:nvPr/>
        </p:nvSpPr>
        <p:spPr>
          <a:xfrm>
            <a:off x="939165" y="4348163"/>
            <a:ext cx="571500" cy="571500"/>
          </a:xfrm>
          <a:prstGeom prst="ellipse">
            <a:avLst/>
          </a:prstGeom>
          <a:solidFill>
            <a:srgbClr val="000000"/>
          </a:solidFill>
          <a:ln/>
        </p:spPr>
      </p:sp>
      <p:sp>
        <p:nvSpPr>
          <p:cNvPr id="8" name="StaticPath"/>
          <p:cNvSpPr/>
          <p:nvPr/>
        </p:nvSpPr>
        <p:spPr>
          <a:xfrm>
            <a:off x="620268" y="4338923"/>
            <a:ext cx="571500" cy="571500"/>
          </a:xfrm>
          <a:prstGeom prst="ellipse">
            <a:avLst/>
          </a:prstGeom>
          <a:solidFill>
            <a:srgbClr val="FF98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taticPath"/>
          <p:cNvSpPr/>
          <p:nvPr/>
        </p:nvSpPr>
        <p:spPr>
          <a:xfrm>
            <a:off x="3852767" y="169640"/>
            <a:ext cx="3157538" cy="3157538"/>
          </a:xfrm>
          <a:prstGeom prst="ellipse">
            <a:avLst/>
          </a:prstGeom>
          <a:solidFill>
            <a:srgbClr val="000000">
              <a:alpha val="4000"/>
            </a:srgbClr>
          </a:solidFill>
          <a:ln/>
        </p:spPr>
      </p:sp>
      <p:sp>
        <p:nvSpPr>
          <p:cNvPr id="3" name="StaticPath"/>
          <p:cNvSpPr/>
          <p:nvPr/>
        </p:nvSpPr>
        <p:spPr>
          <a:xfrm>
            <a:off x="3906869" y="-1913049"/>
            <a:ext cx="2428875" cy="2428875"/>
          </a:xfrm>
          <a:prstGeom prst="ellipse">
            <a:avLst/>
          </a:prstGeom>
          <a:solidFill>
            <a:srgbClr val="000000">
              <a:alpha val="0"/>
            </a:srgbClr>
          </a:solidFill>
          <a:ln w="423333">
            <a:solidFill>
              <a:srgbClr val="FF9800"/>
            </a:solidFill>
            <a:prstDash val="solid"/>
          </a:ln>
        </p:spPr>
      </p:sp>
      <p:sp>
        <p:nvSpPr>
          <p:cNvPr id="4" name="Title"/>
          <p:cNvSpPr/>
          <p:nvPr/>
        </p:nvSpPr>
        <p:spPr>
          <a:xfrm>
            <a:off x="4304062" y="1697879"/>
            <a:ext cx="2302794" cy="927401"/>
          </a:xfrm>
          <a:prstGeom prst="rect">
            <a:avLst/>
          </a:prstGeom>
          <a:noFill/>
          <a:ln/>
        </p:spPr>
        <p:txBody>
          <a:bodyPr wrap="square" rtlCol="0" anchor="ctr"/>
          <a:lstStyle/>
          <a:p>
            <a:pPr algn="ctr" indent="0" marL="0">
              <a:buNone/>
            </a:pPr>
            <a:r>
              <a:rPr lang="en-US" sz="3092" b="1" dirty="0">
                <a:solidFill>
                  <a:srgbClr val="333333"/>
                </a:solidFill>
                <a:latin typeface="OpenSans-Bold" pitchFamily="34" charset="0"/>
                <a:ea typeface="OpenSans-Bold" pitchFamily="34" charset="-122"/>
                <a:cs typeface="OpenSans-Bold" pitchFamily="34" charset="-120"/>
              </a:rPr>
              <a:t>Project Overview</a:t>
            </a:r>
            <a:endParaRPr lang="en-US" sz="3092" dirty="0"/>
          </a:p>
        </p:txBody>
      </p:sp>
      <p:sp>
        <p:nvSpPr>
          <p:cNvPr id="5" name="Bullet circle 1"/>
          <p:cNvSpPr/>
          <p:nvPr/>
        </p:nvSpPr>
        <p:spPr>
          <a:xfrm>
            <a:off x="347662" y="857250"/>
            <a:ext cx="474345" cy="474345"/>
          </a:xfrm>
          <a:prstGeom prst="ellipse">
            <a:avLst/>
          </a:prstGeom>
          <a:solidFill>
            <a:srgbClr val="FF9800"/>
          </a:solidFill>
          <a:ln/>
        </p:spPr>
      </p:sp>
      <p:sp>
        <p:nvSpPr>
          <p:cNvPr id="6" name="Bullet index 1"/>
          <p:cNvSpPr/>
          <p:nvPr/>
        </p:nvSpPr>
        <p:spPr>
          <a:xfrm>
            <a:off x="879634" y="966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01</a:t>
            </a:r>
            <a:endParaRPr lang="en-US" sz="1493" dirty="0"/>
          </a:p>
        </p:txBody>
      </p:sp>
      <p:sp>
        <p:nvSpPr>
          <p:cNvPr id="7" name="Bullet text 1"/>
          <p:cNvSpPr/>
          <p:nvPr/>
        </p:nvSpPr>
        <p:spPr>
          <a:xfrm>
            <a:off x="1388221" y="966788"/>
            <a:ext cx="2525268" cy="308877"/>
          </a:xfrm>
          <a:prstGeom prst="rect">
            <a:avLst/>
          </a:prstGeom>
          <a:noFill/>
          <a:ln/>
        </p:spPr>
        <p:txBody>
          <a:bodyPr wrap="square" rtlCol="0" anchor="ctr"/>
          <a:lstStyle/>
          <a:p>
            <a:pPr algn="l" indent="0" marL="0">
              <a:buNone/>
            </a:pPr>
            <a:r>
              <a:rPr lang="en-US" sz="1196" dirty="0">
                <a:solidFill>
                  <a:srgbClr val="333333"/>
                </a:solidFill>
                <a:latin typeface="OpenSans-Regular" pitchFamily="34" charset="0"/>
                <a:ea typeface="OpenSans-Regular" pitchFamily="34" charset="-122"/>
                <a:cs typeface="OpenSans-Regular" pitchFamily="34" charset="-120"/>
              </a:rPr>
              <a:t>Housing conditions impact safety and quality of life</a:t>
            </a:r>
            <a:endParaRPr lang="en-US" sz="1196" dirty="0"/>
          </a:p>
        </p:txBody>
      </p:sp>
      <p:sp>
        <p:nvSpPr>
          <p:cNvPr id="8" name="Bullet circle 2"/>
          <p:cNvSpPr/>
          <p:nvPr/>
        </p:nvSpPr>
        <p:spPr>
          <a:xfrm>
            <a:off x="347662" y="1619250"/>
            <a:ext cx="474345" cy="474345"/>
          </a:xfrm>
          <a:prstGeom prst="ellipse">
            <a:avLst/>
          </a:prstGeom>
          <a:solidFill>
            <a:srgbClr val="FF9800"/>
          </a:solidFill>
          <a:ln/>
        </p:spPr>
      </p:sp>
      <p:sp>
        <p:nvSpPr>
          <p:cNvPr id="9" name="Bullet index 2"/>
          <p:cNvSpPr/>
          <p:nvPr/>
        </p:nvSpPr>
        <p:spPr>
          <a:xfrm>
            <a:off x="879634" y="1728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02</a:t>
            </a:r>
            <a:endParaRPr lang="en-US" sz="1493" dirty="0"/>
          </a:p>
        </p:txBody>
      </p:sp>
      <p:sp>
        <p:nvSpPr>
          <p:cNvPr id="10" name="Bullet text 2"/>
          <p:cNvSpPr/>
          <p:nvPr/>
        </p:nvSpPr>
        <p:spPr>
          <a:xfrm>
            <a:off x="1388221" y="1728788"/>
            <a:ext cx="2525268" cy="154419"/>
          </a:xfrm>
          <a:prstGeom prst="rect">
            <a:avLst/>
          </a:prstGeom>
          <a:noFill/>
          <a:ln/>
        </p:spPr>
        <p:txBody>
          <a:bodyPr wrap="square" rtlCol="0" anchor="ctr"/>
          <a:lstStyle/>
          <a:p>
            <a:pPr algn="l" indent="0" marL="0">
              <a:buNone/>
            </a:pPr>
            <a:r>
              <a:rPr lang="en-US" sz="1196" dirty="0">
                <a:solidFill>
                  <a:srgbClr val="333333"/>
                </a:solidFill>
                <a:latin typeface="OpenSans-Regular" pitchFamily="34" charset="0"/>
                <a:ea typeface="OpenSans-Regular" pitchFamily="34" charset="-122"/>
                <a:cs typeface="OpenSans-Regular" pitchFamily="34" charset="-120"/>
              </a:rPr>
              <a:t>Data exists but is difficult to interpret</a:t>
            </a:r>
            <a:endParaRPr lang="en-US" sz="1196" dirty="0"/>
          </a:p>
        </p:txBody>
      </p:sp>
      <p:sp>
        <p:nvSpPr>
          <p:cNvPr id="11" name="Bullet circle 3"/>
          <p:cNvSpPr/>
          <p:nvPr/>
        </p:nvSpPr>
        <p:spPr>
          <a:xfrm>
            <a:off x="347662" y="2381250"/>
            <a:ext cx="474345" cy="474345"/>
          </a:xfrm>
          <a:prstGeom prst="ellipse">
            <a:avLst/>
          </a:prstGeom>
          <a:solidFill>
            <a:srgbClr val="FF9800"/>
          </a:solidFill>
          <a:ln/>
        </p:spPr>
      </p:sp>
      <p:sp>
        <p:nvSpPr>
          <p:cNvPr id="12" name="Bullet index 3"/>
          <p:cNvSpPr/>
          <p:nvPr/>
        </p:nvSpPr>
        <p:spPr>
          <a:xfrm>
            <a:off x="879634" y="2490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03</a:t>
            </a:r>
            <a:endParaRPr lang="en-US" sz="1493" dirty="0"/>
          </a:p>
        </p:txBody>
      </p:sp>
      <p:sp>
        <p:nvSpPr>
          <p:cNvPr id="13" name="Bullet text 3"/>
          <p:cNvSpPr/>
          <p:nvPr/>
        </p:nvSpPr>
        <p:spPr>
          <a:xfrm>
            <a:off x="1388221" y="2490788"/>
            <a:ext cx="2525268" cy="308877"/>
          </a:xfrm>
          <a:prstGeom prst="rect">
            <a:avLst/>
          </a:prstGeom>
          <a:noFill/>
          <a:ln/>
        </p:spPr>
        <p:txBody>
          <a:bodyPr wrap="square" rtlCol="0" anchor="ctr"/>
          <a:lstStyle/>
          <a:p>
            <a:pPr algn="l" indent="0" marL="0">
              <a:buNone/>
            </a:pPr>
            <a:r>
              <a:rPr lang="en-US" sz="1196" dirty="0">
                <a:solidFill>
                  <a:srgbClr val="333333"/>
                </a:solidFill>
                <a:latin typeface="OpenSans-Regular" pitchFamily="34" charset="0"/>
                <a:ea typeface="OpenSans-Regular" pitchFamily="34" charset="-122"/>
                <a:cs typeface="OpenSans-Regular" pitchFamily="34" charset="-120"/>
              </a:rPr>
              <a:t>Focus on violations, patterns, and system performance</a:t>
            </a:r>
            <a:endParaRPr lang="en-US" sz="1196" dirty="0"/>
          </a:p>
        </p:txBody>
      </p:sp>
      <p:sp>
        <p:nvSpPr>
          <p:cNvPr id="14" name="Bullet circle 4"/>
          <p:cNvSpPr/>
          <p:nvPr/>
        </p:nvSpPr>
        <p:spPr>
          <a:xfrm>
            <a:off x="347662" y="3143250"/>
            <a:ext cx="474345" cy="474345"/>
          </a:xfrm>
          <a:prstGeom prst="ellipse">
            <a:avLst/>
          </a:prstGeom>
          <a:solidFill>
            <a:srgbClr val="FF9800"/>
          </a:solidFill>
          <a:ln/>
        </p:spPr>
      </p:sp>
      <p:sp>
        <p:nvSpPr>
          <p:cNvPr id="15" name="Bullet index 4"/>
          <p:cNvSpPr/>
          <p:nvPr/>
        </p:nvSpPr>
        <p:spPr>
          <a:xfrm>
            <a:off x="879634" y="3252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04</a:t>
            </a:r>
            <a:endParaRPr lang="en-US" sz="1493" dirty="0"/>
          </a:p>
        </p:txBody>
      </p:sp>
      <p:sp>
        <p:nvSpPr>
          <p:cNvPr id="16" name="Bullet text 4"/>
          <p:cNvSpPr/>
          <p:nvPr/>
        </p:nvSpPr>
        <p:spPr>
          <a:xfrm>
            <a:off x="1388221" y="3252788"/>
            <a:ext cx="2525268" cy="154419"/>
          </a:xfrm>
          <a:prstGeom prst="rect">
            <a:avLst/>
          </a:prstGeom>
          <a:noFill/>
          <a:ln/>
        </p:spPr>
        <p:txBody>
          <a:bodyPr wrap="square" rtlCol="0" anchor="ctr"/>
          <a:lstStyle/>
          <a:p>
            <a:pPr algn="l" indent="0" marL="0">
              <a:buNone/>
            </a:pPr>
            <a:r>
              <a:rPr lang="en-US" sz="1196" dirty="0">
                <a:solidFill>
                  <a:srgbClr val="333333"/>
                </a:solidFill>
                <a:latin typeface="OpenSans-Regular" pitchFamily="34" charset="0"/>
                <a:ea typeface="OpenSans-Regular" pitchFamily="34" charset="-122"/>
                <a:cs typeface="OpenSans-Regular" pitchFamily="34" charset="-120"/>
              </a:rPr>
              <a:t>Stakeholder-focused civic insights</a:t>
            </a:r>
            <a:endParaRPr lang="en-US" sz="1196" dirty="0"/>
          </a:p>
        </p:txBody>
      </p:sp>
      <p:sp>
        <p:nvSpPr>
          <p:cNvPr id="17" name="Bullet circle 5"/>
          <p:cNvSpPr/>
          <p:nvPr/>
        </p:nvSpPr>
        <p:spPr>
          <a:xfrm>
            <a:off x="347662" y="3905250"/>
            <a:ext cx="474345" cy="474345"/>
          </a:xfrm>
          <a:prstGeom prst="ellipse">
            <a:avLst/>
          </a:prstGeom>
          <a:solidFill>
            <a:srgbClr val="FF9800"/>
          </a:solidFill>
          <a:ln/>
        </p:spPr>
      </p:sp>
      <p:sp>
        <p:nvSpPr>
          <p:cNvPr id="18" name="Bullet index 5"/>
          <p:cNvSpPr/>
          <p:nvPr/>
        </p:nvSpPr>
        <p:spPr>
          <a:xfrm>
            <a:off x="879634" y="4014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05</a:t>
            </a:r>
            <a:endParaRPr lang="en-US" sz="1493" dirty="0"/>
          </a:p>
        </p:txBody>
      </p:sp>
      <p:sp>
        <p:nvSpPr>
          <p:cNvPr id="19" name="Bullet text 5"/>
          <p:cNvSpPr/>
          <p:nvPr/>
        </p:nvSpPr>
        <p:spPr>
          <a:xfrm>
            <a:off x="1388221" y="4014788"/>
            <a:ext cx="2525268" cy="154419"/>
          </a:xfrm>
          <a:prstGeom prst="rect">
            <a:avLst/>
          </a:prstGeom>
          <a:noFill/>
          <a:ln/>
        </p:spPr>
        <p:txBody>
          <a:bodyPr wrap="square" rtlCol="0" anchor="ctr"/>
          <a:lstStyle/>
          <a:p>
            <a:pPr algn="l" indent="0" marL="0">
              <a:buNone/>
            </a:pPr>
            <a:r>
              <a:rPr lang="en-US" sz="1196" dirty="0">
                <a:solidFill>
                  <a:srgbClr val="333333"/>
                </a:solidFill>
                <a:latin typeface="OpenSans-Regular" pitchFamily="34" charset="0"/>
                <a:ea typeface="OpenSans-Regular" pitchFamily="34" charset="-122"/>
                <a:cs typeface="OpenSans-Regular" pitchFamily="34" charset="-120"/>
              </a:rPr>
              <a:t>Dashboard for real-world usability</a:t>
            </a:r>
            <a:endParaRPr lang="en-US" sz="1196" dirty="0"/>
          </a:p>
        </p:txBody>
      </p:sp>
      <p:pic>
        <p:nvPicPr>
          <p:cNvPr id="20" name="Image" descr="preencoded.png">    </p:cNvPr>
          <p:cNvPicPr>
            <a:picLocks noChangeAspect="1"/>
          </p:cNvPicPr>
          <p:nvPr/>
        </p:nvPicPr>
        <p:blipFill>
          <a:blip r:embed="rId1"/>
          <a:stretch>
            <a:fillRect/>
          </a:stretch>
        </p:blipFill>
        <p:spPr>
          <a:xfrm>
            <a:off x="6569916" y="2586085"/>
            <a:ext cx="2329148" cy="23291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taticPath"/>
          <p:cNvSpPr/>
          <p:nvPr/>
        </p:nvSpPr>
        <p:spPr>
          <a:xfrm>
            <a:off x="7143750" y="0"/>
            <a:ext cx="2000250" cy="5143500"/>
          </a:xfrm>
          <a:prstGeom prst="rect">
            <a:avLst/>
          </a:prstGeom>
          <a:solidFill>
            <a:srgbClr val="FF9800"/>
          </a:solidFill>
          <a:ln/>
        </p:spPr>
      </p:sp>
      <p:sp>
        <p:nvSpPr>
          <p:cNvPr id="3" name="Title"/>
          <p:cNvSpPr/>
          <p:nvPr/>
        </p:nvSpPr>
        <p:spPr>
          <a:xfrm>
            <a:off x="1190625" y="357188"/>
            <a:ext cx="5715000" cy="571500"/>
          </a:xfrm>
          <a:prstGeom prst="rect">
            <a:avLst/>
          </a:prstGeom>
          <a:noFill/>
          <a:ln/>
        </p:spPr>
        <p:txBody>
          <a:bodyPr wrap="square" rtlCol="0" anchor="ctr"/>
          <a:lstStyle/>
          <a:p>
            <a:pPr algn="l" indent="0" marL="0">
              <a:buNone/>
            </a:pPr>
            <a:r>
              <a:rPr lang="en-US" sz="1900" b="1" dirty="0">
                <a:solidFill>
                  <a:srgbClr val="333333"/>
                </a:solidFill>
                <a:latin typeface="OpenSans-Bold" pitchFamily="34" charset="0"/>
                <a:ea typeface="OpenSans-Bold" pitchFamily="34" charset="-122"/>
                <a:cs typeface="OpenSans-Bold" pitchFamily="34" charset="-120"/>
              </a:rPr>
              <a:t>Problem &amp; Research Question</a:t>
            </a:r>
            <a:endParaRPr lang="en-US" sz="1900" dirty="0"/>
          </a:p>
        </p:txBody>
      </p:sp>
      <p:sp>
        <p:nvSpPr>
          <p:cNvPr id="4" name="Subtitle 1"/>
          <p:cNvSpPr/>
          <p:nvPr/>
        </p:nvSpPr>
        <p:spPr>
          <a:xfrm>
            <a:off x="714375" y="1190625"/>
            <a:ext cx="5238750" cy="1428750"/>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The Problem</a:t>
            </a:r>
            <a:endParaRPr lang="en-US" sz="1500" dirty="0"/>
          </a:p>
        </p:txBody>
      </p:sp>
      <p:sp>
        <p:nvSpPr>
          <p:cNvPr id="5" name="Paragraph 1"/>
          <p:cNvSpPr/>
          <p:nvPr/>
        </p:nvSpPr>
        <p:spPr>
          <a:xfrm>
            <a:off x="714375" y="1571625"/>
            <a:ext cx="5238750" cy="1428750"/>
          </a:xfrm>
          <a:prstGeom prst="rect">
            <a:avLst/>
          </a:prstGeom>
          <a:noFill/>
          <a:ln/>
        </p:spPr>
        <p:txBody>
          <a:bodyPr wrap="square" rtlCol="0" anchor="ctr"/>
          <a:lstStyle/>
          <a:p>
            <a:pPr algn="l" indent="0" marL="0">
              <a:buNone/>
            </a:pPr>
            <a:r>
              <a:rPr lang="en-US" sz="1071" dirty="0">
                <a:solidFill>
                  <a:srgbClr val="000000"/>
                </a:solidFill>
                <a:latin typeface="OpenSans-Regular" pitchFamily="34" charset="0"/>
                <a:ea typeface="OpenSans-Regular" pitchFamily="34" charset="-122"/>
                <a:cs typeface="OpenSans-Regular" pitchFamily="34" charset="-120"/>
              </a:rPr>
              <a:t>Housing conditions directly affect safety, neighborhood stability, and quality of life. While Syracuse provides open data on code violations, the raw dataset is difficult to interpret without structured analysis and visualization.</a:t>
            </a:r>
            <a:endParaRPr lang="en-US" sz="1071" dirty="0"/>
          </a:p>
        </p:txBody>
      </p:sp>
      <p:sp>
        <p:nvSpPr>
          <p:cNvPr id="6" name="Subtitle 2"/>
          <p:cNvSpPr/>
          <p:nvPr/>
        </p:nvSpPr>
        <p:spPr>
          <a:xfrm>
            <a:off x="714375" y="2524125"/>
            <a:ext cx="5238750" cy="1428750"/>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Research Question</a:t>
            </a:r>
            <a:endParaRPr lang="en-US" sz="1500" dirty="0"/>
          </a:p>
        </p:txBody>
      </p:sp>
      <p:sp>
        <p:nvSpPr>
          <p:cNvPr id="7" name="Paragraph 2"/>
          <p:cNvSpPr/>
          <p:nvPr/>
        </p:nvSpPr>
        <p:spPr>
          <a:xfrm>
            <a:off x="714375" y="2905125"/>
            <a:ext cx="5238750" cy="1428750"/>
          </a:xfrm>
          <a:prstGeom prst="rect">
            <a:avLst/>
          </a:prstGeom>
          <a:noFill/>
          <a:ln/>
        </p:spPr>
        <p:txBody>
          <a:bodyPr wrap="square" rtlCol="0" anchor="ctr"/>
          <a:lstStyle/>
          <a:p>
            <a:pPr algn="l" indent="0" marL="0">
              <a:buNone/>
            </a:pPr>
            <a:r>
              <a:rPr lang="en-US" sz="1071" dirty="0">
                <a:solidFill>
                  <a:srgbClr val="000000"/>
                </a:solidFill>
                <a:latin typeface="OpenSans-Regular" pitchFamily="34" charset="0"/>
                <a:ea typeface="OpenSans-Regular" pitchFamily="34" charset="-122"/>
                <a:cs typeface="OpenSans-Regular" pitchFamily="34" charset="-120"/>
              </a:rPr>
              <a:t>This project asks how violations are distributed across neighborhoods and time, and what patterns in violation type, case status, and resolution time reveal about system performance.</a:t>
            </a:r>
            <a:endParaRPr lang="en-US" sz="1071" dirty="0"/>
          </a:p>
        </p:txBody>
      </p:sp>
      <p:sp>
        <p:nvSpPr>
          <p:cNvPr id="8" name="Subtitle 3"/>
          <p:cNvSpPr/>
          <p:nvPr/>
        </p:nvSpPr>
        <p:spPr>
          <a:xfrm>
            <a:off x="714375" y="3619500"/>
            <a:ext cx="5238750" cy="1428750"/>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Why It Matters</a:t>
            </a:r>
            <a:endParaRPr lang="en-US" sz="1500" dirty="0"/>
          </a:p>
        </p:txBody>
      </p:sp>
      <p:sp>
        <p:nvSpPr>
          <p:cNvPr id="9" name="Paragraph 3"/>
          <p:cNvSpPr/>
          <p:nvPr/>
        </p:nvSpPr>
        <p:spPr>
          <a:xfrm>
            <a:off x="714375" y="4000500"/>
            <a:ext cx="5238750" cy="1428750"/>
          </a:xfrm>
          <a:prstGeom prst="rect">
            <a:avLst/>
          </a:prstGeom>
          <a:noFill/>
          <a:ln/>
        </p:spPr>
        <p:txBody>
          <a:bodyPr wrap="square" rtlCol="0" anchor="ctr"/>
          <a:lstStyle/>
          <a:p>
            <a:pPr algn="l" indent="0" marL="0">
              <a:buNone/>
            </a:pPr>
            <a:r>
              <a:rPr lang="en-US" sz="1071" dirty="0">
                <a:solidFill>
                  <a:srgbClr val="000000"/>
                </a:solidFill>
                <a:latin typeface="OpenSans-Regular" pitchFamily="34" charset="0"/>
                <a:ea typeface="OpenSans-Regular" pitchFamily="34" charset="-122"/>
                <a:cs typeface="OpenSans-Regular" pitchFamily="34" charset="-120"/>
              </a:rPr>
              <a:t>Clear interpretation of this data enables stakeholders to understand community needs, evaluate performance, and make informed decisions that improve housing conditions.</a:t>
            </a:r>
            <a:endParaRPr lang="en-US" sz="1071" dirty="0"/>
          </a:p>
        </p:txBody>
      </p:sp>
      <p:pic>
        <p:nvPicPr>
          <p:cNvPr id="10" name="Image" descr="preencoded.png">    </p:cNvPr>
          <p:cNvPicPr>
            <a:picLocks noChangeAspect="1"/>
          </p:cNvPicPr>
          <p:nvPr/>
        </p:nvPicPr>
        <p:blipFill>
          <a:blip r:embed="rId1"/>
          <a:stretch>
            <a:fillRect/>
          </a:stretch>
        </p:blipFill>
        <p:spPr>
          <a:xfrm>
            <a:off x="6238875" y="1333500"/>
            <a:ext cx="2352675" cy="2352675"/>
          </a:xfrm>
          <a:prstGeom prst="rect">
            <a:avLst/>
          </a:prstGeom>
        </p:spPr>
      </p:pic>
      <p:sp>
        <p:nvSpPr>
          <p:cNvPr id="11" name="StaticPath"/>
          <p:cNvSpPr/>
          <p:nvPr/>
        </p:nvSpPr>
        <p:spPr>
          <a:xfrm>
            <a:off x="-1309687" y="3810000"/>
            <a:ext cx="1737360" cy="1737360"/>
          </a:xfrm>
          <a:prstGeom prst="ellipse">
            <a:avLst/>
          </a:prstGeom>
          <a:solidFill>
            <a:srgbClr val="000000">
              <a:alpha val="0"/>
            </a:srgbClr>
          </a:solidFill>
          <a:ln w="211667">
            <a:solidFill>
              <a:srgbClr val="FF9800"/>
            </a:solidFill>
            <a:prstDash val="solid"/>
          </a:ln>
        </p:spPr>
      </p:sp>
      <p:sp>
        <p:nvSpPr>
          <p:cNvPr id="12" name="StaticPath"/>
          <p:cNvSpPr/>
          <p:nvPr/>
        </p:nvSpPr>
        <p:spPr>
          <a:xfrm>
            <a:off x="285750" y="204788"/>
            <a:ext cx="482918" cy="482917"/>
          </a:xfrm>
          <a:prstGeom prst="ellipse">
            <a:avLst/>
          </a:prstGeom>
          <a:solidFill>
            <a:srgbClr val="00000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taticPath"/>
          <p:cNvSpPr/>
          <p:nvPr/>
        </p:nvSpPr>
        <p:spPr>
          <a:xfrm>
            <a:off x="7143750" y="0"/>
            <a:ext cx="2000250" cy="5143500"/>
          </a:xfrm>
          <a:prstGeom prst="rect">
            <a:avLst/>
          </a:prstGeom>
          <a:solidFill>
            <a:srgbClr val="FF9800"/>
          </a:solidFill>
          <a:ln/>
        </p:spPr>
      </p:sp>
      <p:sp>
        <p:nvSpPr>
          <p:cNvPr id="3" name="Title"/>
          <p:cNvSpPr/>
          <p:nvPr/>
        </p:nvSpPr>
        <p:spPr>
          <a:xfrm>
            <a:off x="1190625" y="357188"/>
            <a:ext cx="5715000" cy="571500"/>
          </a:xfrm>
          <a:prstGeom prst="rect">
            <a:avLst/>
          </a:prstGeom>
          <a:noFill/>
          <a:ln/>
        </p:spPr>
        <p:txBody>
          <a:bodyPr wrap="square" rtlCol="0" anchor="ctr"/>
          <a:lstStyle/>
          <a:p>
            <a:pPr algn="l" indent="0" marL="0">
              <a:buNone/>
            </a:pPr>
            <a:r>
              <a:rPr lang="en-US" sz="1900" b="1" dirty="0">
                <a:solidFill>
                  <a:srgbClr val="333333"/>
                </a:solidFill>
                <a:latin typeface="OpenSans-Bold" pitchFamily="34" charset="0"/>
                <a:ea typeface="OpenSans-Bold" pitchFamily="34" charset="-122"/>
                <a:cs typeface="OpenSans-Bold" pitchFamily="34" charset="-120"/>
              </a:rPr>
              <a:t>Data &amp; Challenges</a:t>
            </a:r>
            <a:endParaRPr lang="en-US" sz="1900" dirty="0"/>
          </a:p>
        </p:txBody>
      </p:sp>
      <p:sp>
        <p:nvSpPr>
          <p:cNvPr id="4" name="Subtitle 1"/>
          <p:cNvSpPr/>
          <p:nvPr/>
        </p:nvSpPr>
        <p:spPr>
          <a:xfrm>
            <a:off x="714375" y="1190625"/>
            <a:ext cx="5238750" cy="1428750"/>
          </a:xfrm>
          <a:prstGeom prst="rect">
            <a:avLst/>
          </a:prstGeom>
          <a:noFill/>
          <a:ln/>
        </p:spPr>
        <p:txBody>
          <a:bodyPr wrap="square" rtlCol="0" anchor="ctr"/>
          <a:lstStyle/>
          <a:p>
            <a:pPr algn="l" indent="0" marL="0">
              <a:buNone/>
            </a:pPr>
            <a:r>
              <a:rPr lang="en-US" sz="1489" b="1" dirty="0">
                <a:solidFill>
                  <a:srgbClr val="000000"/>
                </a:solidFill>
                <a:latin typeface="OpenSans-Bold" pitchFamily="34" charset="0"/>
                <a:ea typeface="OpenSans-Bold" pitchFamily="34" charset="-122"/>
                <a:cs typeface="OpenSans-Bold" pitchFamily="34" charset="-120"/>
              </a:rPr>
              <a:t>Dataset Overview</a:t>
            </a:r>
            <a:endParaRPr lang="en-US" sz="1489" dirty="0"/>
          </a:p>
        </p:txBody>
      </p:sp>
      <p:sp>
        <p:nvSpPr>
          <p:cNvPr id="5" name="Paragraph 1"/>
          <p:cNvSpPr/>
          <p:nvPr/>
        </p:nvSpPr>
        <p:spPr>
          <a:xfrm>
            <a:off x="714375" y="1571625"/>
            <a:ext cx="5238750" cy="1428750"/>
          </a:xfrm>
          <a:prstGeom prst="rect">
            <a:avLst/>
          </a:prstGeom>
          <a:noFill/>
          <a:ln/>
        </p:spPr>
        <p:txBody>
          <a:bodyPr wrap="square" rtlCol="0" anchor="ctr"/>
          <a:lstStyle/>
          <a:p>
            <a:pPr algn="l" indent="0" marL="0">
              <a:buNone/>
            </a:pPr>
            <a:r>
              <a:rPr lang="en-US" sz="1121" dirty="0">
                <a:solidFill>
                  <a:srgbClr val="000000"/>
                </a:solidFill>
                <a:latin typeface="OpenSans-Regular" pitchFamily="34" charset="0"/>
                <a:ea typeface="OpenSans-Regular" pitchFamily="34" charset="-122"/>
                <a:cs typeface="OpenSans-Regular" pitchFamily="34" charset="-120"/>
              </a:rPr>
              <a:t>The analysis uses the Syracuse Open Data Code Violations dataset, containing over 143,000 records with details on violation type, status, dates, and neighborhood location.</a:t>
            </a:r>
            <a:endParaRPr lang="en-US" sz="1121" dirty="0"/>
          </a:p>
        </p:txBody>
      </p:sp>
      <p:sp>
        <p:nvSpPr>
          <p:cNvPr id="6" name="Subtitle 2"/>
          <p:cNvSpPr/>
          <p:nvPr/>
        </p:nvSpPr>
        <p:spPr>
          <a:xfrm>
            <a:off x="714375" y="2524125"/>
            <a:ext cx="5238750" cy="1428750"/>
          </a:xfrm>
          <a:prstGeom prst="rect">
            <a:avLst/>
          </a:prstGeom>
          <a:noFill/>
          <a:ln/>
        </p:spPr>
        <p:txBody>
          <a:bodyPr wrap="square" rtlCol="0" anchor="ctr"/>
          <a:lstStyle/>
          <a:p>
            <a:pPr algn="l" indent="0" marL="0">
              <a:buNone/>
            </a:pPr>
            <a:r>
              <a:rPr lang="en-US" sz="1489" b="1" dirty="0">
                <a:solidFill>
                  <a:srgbClr val="000000"/>
                </a:solidFill>
                <a:latin typeface="OpenSans-Bold" pitchFamily="34" charset="0"/>
                <a:ea typeface="OpenSans-Bold" pitchFamily="34" charset="-122"/>
                <a:cs typeface="OpenSans-Bold" pitchFamily="34" charset="-120"/>
              </a:rPr>
              <a:t>Data Quality Issues</a:t>
            </a:r>
            <a:endParaRPr lang="en-US" sz="1489" dirty="0"/>
          </a:p>
        </p:txBody>
      </p:sp>
      <p:sp>
        <p:nvSpPr>
          <p:cNvPr id="7" name="Paragraph 2"/>
          <p:cNvSpPr/>
          <p:nvPr/>
        </p:nvSpPr>
        <p:spPr>
          <a:xfrm>
            <a:off x="714375" y="2905125"/>
            <a:ext cx="5238750" cy="1428750"/>
          </a:xfrm>
          <a:prstGeom prst="rect">
            <a:avLst/>
          </a:prstGeom>
          <a:noFill/>
          <a:ln/>
        </p:spPr>
        <p:txBody>
          <a:bodyPr wrap="square" rtlCol="0" anchor="ctr"/>
          <a:lstStyle/>
          <a:p>
            <a:pPr algn="l" indent="0" marL="0">
              <a:buNone/>
            </a:pPr>
            <a:r>
              <a:rPr lang="en-US" sz="1121" dirty="0">
                <a:solidFill>
                  <a:srgbClr val="000000"/>
                </a:solidFill>
                <a:latin typeface="OpenSans-Regular" pitchFamily="34" charset="0"/>
                <a:ea typeface="OpenSans-Regular" pitchFamily="34" charset="-122"/>
                <a:cs typeface="OpenSans-Regular" pitchFamily="34" charset="-120"/>
              </a:rPr>
              <a:t>Challenges include missing values, inconsistent formatting, and mixed date fields. Additionally, violation reporting is complaint-driven, which introduces bias in how issues are captured.</a:t>
            </a:r>
            <a:endParaRPr lang="en-US" sz="1121" dirty="0"/>
          </a:p>
        </p:txBody>
      </p:sp>
      <p:sp>
        <p:nvSpPr>
          <p:cNvPr id="8" name="Subtitle 3"/>
          <p:cNvSpPr/>
          <p:nvPr/>
        </p:nvSpPr>
        <p:spPr>
          <a:xfrm>
            <a:off x="714375" y="3619500"/>
            <a:ext cx="5238750" cy="1428750"/>
          </a:xfrm>
          <a:prstGeom prst="rect">
            <a:avLst/>
          </a:prstGeom>
          <a:noFill/>
          <a:ln/>
        </p:spPr>
        <p:txBody>
          <a:bodyPr wrap="square" rtlCol="0" anchor="ctr"/>
          <a:lstStyle/>
          <a:p>
            <a:pPr algn="l" indent="0" marL="0">
              <a:buNone/>
            </a:pPr>
            <a:r>
              <a:rPr lang="en-US" sz="1489" b="1" dirty="0">
                <a:solidFill>
                  <a:srgbClr val="000000"/>
                </a:solidFill>
                <a:latin typeface="OpenSans-Bold" pitchFamily="34" charset="0"/>
                <a:ea typeface="OpenSans-Bold" pitchFamily="34" charset="-122"/>
                <a:cs typeface="OpenSans-Bold" pitchFamily="34" charset="-120"/>
              </a:rPr>
              <a:t>Implications</a:t>
            </a:r>
            <a:endParaRPr lang="en-US" sz="1489" dirty="0"/>
          </a:p>
        </p:txBody>
      </p:sp>
      <p:sp>
        <p:nvSpPr>
          <p:cNvPr id="9" name="Paragraph 3"/>
          <p:cNvSpPr/>
          <p:nvPr/>
        </p:nvSpPr>
        <p:spPr>
          <a:xfrm>
            <a:off x="714375" y="4000500"/>
            <a:ext cx="5238750" cy="1428750"/>
          </a:xfrm>
          <a:prstGeom prst="rect">
            <a:avLst/>
          </a:prstGeom>
          <a:noFill/>
          <a:ln/>
        </p:spPr>
        <p:txBody>
          <a:bodyPr wrap="square" rtlCol="0" anchor="ctr"/>
          <a:lstStyle/>
          <a:p>
            <a:pPr algn="l" indent="0" marL="0">
              <a:buNone/>
            </a:pPr>
            <a:r>
              <a:rPr lang="en-US" sz="1121" dirty="0">
                <a:solidFill>
                  <a:srgbClr val="000000"/>
                </a:solidFill>
                <a:latin typeface="OpenSans-Regular" pitchFamily="34" charset="0"/>
                <a:ea typeface="OpenSans-Regular" pitchFamily="34" charset="-122"/>
                <a:cs typeface="OpenSans-Regular" pitchFamily="34" charset="-120"/>
              </a:rPr>
              <a:t>These limitations require careful interpretation. The analysis focuses on descriptive patterns rather than causal conclusions, ensuring responsible use of civic data.</a:t>
            </a:r>
            <a:endParaRPr lang="en-US" sz="1121" dirty="0"/>
          </a:p>
        </p:txBody>
      </p:sp>
      <p:pic>
        <p:nvPicPr>
          <p:cNvPr id="10" name="Image" descr="preencoded.png">    </p:cNvPr>
          <p:cNvPicPr>
            <a:picLocks noChangeAspect="1"/>
          </p:cNvPicPr>
          <p:nvPr/>
        </p:nvPicPr>
        <p:blipFill>
          <a:blip r:embed="rId1"/>
          <a:stretch>
            <a:fillRect/>
          </a:stretch>
        </p:blipFill>
        <p:spPr>
          <a:xfrm>
            <a:off x="6238875" y="1333500"/>
            <a:ext cx="2352675" cy="2352675"/>
          </a:xfrm>
          <a:prstGeom prst="rect">
            <a:avLst/>
          </a:prstGeom>
        </p:spPr>
      </p:pic>
      <p:sp>
        <p:nvSpPr>
          <p:cNvPr id="11" name="StaticPath"/>
          <p:cNvSpPr/>
          <p:nvPr/>
        </p:nvSpPr>
        <p:spPr>
          <a:xfrm>
            <a:off x="-1309687" y="3810000"/>
            <a:ext cx="1737360" cy="1737360"/>
          </a:xfrm>
          <a:prstGeom prst="ellipse">
            <a:avLst/>
          </a:prstGeom>
          <a:solidFill>
            <a:srgbClr val="000000">
              <a:alpha val="0"/>
            </a:srgbClr>
          </a:solidFill>
          <a:ln w="211667">
            <a:solidFill>
              <a:srgbClr val="FF9800"/>
            </a:solidFill>
            <a:prstDash val="solid"/>
          </a:ln>
        </p:spPr>
      </p:sp>
      <p:sp>
        <p:nvSpPr>
          <p:cNvPr id="12" name="StaticPath"/>
          <p:cNvSpPr/>
          <p:nvPr/>
        </p:nvSpPr>
        <p:spPr>
          <a:xfrm>
            <a:off x="285750" y="204788"/>
            <a:ext cx="482918" cy="482917"/>
          </a:xfrm>
          <a:prstGeom prst="ellipse">
            <a:avLst/>
          </a:prstGeom>
          <a:solidFill>
            <a:srgbClr val="00000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taticPath"/>
          <p:cNvSpPr/>
          <p:nvPr/>
        </p:nvSpPr>
        <p:spPr>
          <a:xfrm>
            <a:off x="7143750" y="0"/>
            <a:ext cx="2000250" cy="5143500"/>
          </a:xfrm>
          <a:prstGeom prst="rect">
            <a:avLst/>
          </a:prstGeom>
          <a:solidFill>
            <a:srgbClr val="FF9800"/>
          </a:solidFill>
          <a:ln/>
        </p:spPr>
      </p:sp>
      <p:sp>
        <p:nvSpPr>
          <p:cNvPr id="3" name="Title"/>
          <p:cNvSpPr/>
          <p:nvPr/>
        </p:nvSpPr>
        <p:spPr>
          <a:xfrm>
            <a:off x="1190625" y="357188"/>
            <a:ext cx="5715000" cy="306753"/>
          </a:xfrm>
          <a:prstGeom prst="rect">
            <a:avLst/>
          </a:prstGeom>
          <a:noFill/>
          <a:ln/>
        </p:spPr>
        <p:txBody>
          <a:bodyPr wrap="square" rtlCol="0" anchor="ctr"/>
          <a:lstStyle/>
          <a:p>
            <a:pPr algn="l" indent="0" marL="0">
              <a:buNone/>
            </a:pPr>
            <a:r>
              <a:rPr lang="en-US" sz="1900" b="1" dirty="0">
                <a:solidFill>
                  <a:srgbClr val="333333"/>
                </a:solidFill>
                <a:latin typeface="OpenSans-Bold" pitchFamily="34" charset="0"/>
                <a:ea typeface="OpenSans-Bold" pitchFamily="34" charset="-122"/>
                <a:cs typeface="OpenSans-Bold" pitchFamily="34" charset="-120"/>
              </a:rPr>
              <a:t>Approach &amp; Methodology</a:t>
            </a:r>
            <a:endParaRPr lang="en-US" sz="1900" dirty="0"/>
          </a:p>
        </p:txBody>
      </p:sp>
      <p:sp>
        <p:nvSpPr>
          <p:cNvPr id="4" name="Subtitle 1"/>
          <p:cNvSpPr/>
          <p:nvPr/>
        </p:nvSpPr>
        <p:spPr>
          <a:xfrm>
            <a:off x="714375" y="1190625"/>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Analysis Pipeline</a:t>
            </a:r>
            <a:endParaRPr lang="en-US" sz="1500" dirty="0"/>
          </a:p>
        </p:txBody>
      </p:sp>
      <p:sp>
        <p:nvSpPr>
          <p:cNvPr id="5" name="Paragraph 1"/>
          <p:cNvSpPr/>
          <p:nvPr/>
        </p:nvSpPr>
        <p:spPr>
          <a:xfrm>
            <a:off x="714375" y="1571625"/>
            <a:ext cx="5238750" cy="543211"/>
          </a:xfrm>
          <a:prstGeom prst="rect">
            <a:avLst/>
          </a:prstGeom>
          <a:noFill/>
          <a:ln/>
        </p:spPr>
        <p:txBody>
          <a:bodyPr wrap="square" rtlCol="0" anchor="ctr"/>
          <a:lstStyle/>
          <a:p>
            <a:pPr algn="l" indent="0" marL="0">
              <a:buNone/>
            </a:pPr>
            <a:r>
              <a:rPr lang="en-US" sz="1122" dirty="0">
                <a:solidFill>
                  <a:srgbClr val="000000"/>
                </a:solidFill>
                <a:latin typeface="OpenSans-Regular" pitchFamily="34" charset="0"/>
                <a:ea typeface="OpenSans-Regular" pitchFamily="34" charset="-122"/>
                <a:cs typeface="OpenSans-Regular" pitchFamily="34" charset="-120"/>
              </a:rPr>
              <a:t>The project follows a structured pipeline from raw data to cleaned datasets, analysis, validation, and final dashboard output. Each step is modular to ensure reproducibility and clarity.</a:t>
            </a:r>
            <a:endParaRPr lang="en-US" sz="1122" dirty="0"/>
          </a:p>
        </p:txBody>
      </p:sp>
      <p:sp>
        <p:nvSpPr>
          <p:cNvPr id="6" name="Subtitle 2"/>
          <p:cNvSpPr/>
          <p:nvPr/>
        </p:nvSpPr>
        <p:spPr>
          <a:xfrm>
            <a:off x="714375" y="2524125"/>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Techniques Used</a:t>
            </a:r>
            <a:endParaRPr lang="en-US" sz="1500" dirty="0"/>
          </a:p>
        </p:txBody>
      </p:sp>
      <p:sp>
        <p:nvSpPr>
          <p:cNvPr id="7" name="Paragraph 2"/>
          <p:cNvSpPr/>
          <p:nvPr/>
        </p:nvSpPr>
        <p:spPr>
          <a:xfrm>
            <a:off x="714375" y="2905125"/>
            <a:ext cx="5238750" cy="543211"/>
          </a:xfrm>
          <a:prstGeom prst="rect">
            <a:avLst/>
          </a:prstGeom>
          <a:noFill/>
          <a:ln/>
        </p:spPr>
        <p:txBody>
          <a:bodyPr wrap="square" rtlCol="0" anchor="ctr"/>
          <a:lstStyle/>
          <a:p>
            <a:pPr algn="l" indent="0" marL="0">
              <a:buNone/>
            </a:pPr>
            <a:r>
              <a:rPr lang="en-US" sz="1122" dirty="0">
                <a:solidFill>
                  <a:srgbClr val="000000"/>
                </a:solidFill>
                <a:latin typeface="OpenSans-Regular" pitchFamily="34" charset="0"/>
                <a:ea typeface="OpenSans-Regular" pitchFamily="34" charset="-122"/>
                <a:cs typeface="OpenSans-Regular" pitchFamily="34" charset="-120"/>
              </a:rPr>
              <a:t>Data cleaning, feature engineering, and aggregation were performed using Python and Pandas. Key features include year, case status, and resolution time for analysis.</a:t>
            </a:r>
            <a:endParaRPr lang="en-US" sz="1122" dirty="0"/>
          </a:p>
        </p:txBody>
      </p:sp>
      <p:sp>
        <p:nvSpPr>
          <p:cNvPr id="8" name="Subtitle 3"/>
          <p:cNvSpPr/>
          <p:nvPr/>
        </p:nvSpPr>
        <p:spPr>
          <a:xfrm>
            <a:off x="714375" y="3619500"/>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LLM Validation</a:t>
            </a:r>
            <a:endParaRPr lang="en-US" sz="1500" dirty="0"/>
          </a:p>
        </p:txBody>
      </p:sp>
      <p:sp>
        <p:nvSpPr>
          <p:cNvPr id="9" name="Paragraph 3"/>
          <p:cNvSpPr/>
          <p:nvPr/>
        </p:nvSpPr>
        <p:spPr>
          <a:xfrm>
            <a:off x="714375" y="4000500"/>
            <a:ext cx="5238750" cy="543211"/>
          </a:xfrm>
          <a:prstGeom prst="rect">
            <a:avLst/>
          </a:prstGeom>
          <a:noFill/>
          <a:ln/>
        </p:spPr>
        <p:txBody>
          <a:bodyPr wrap="square" rtlCol="0" anchor="ctr"/>
          <a:lstStyle/>
          <a:p>
            <a:pPr algn="l" indent="0" marL="0">
              <a:buNone/>
            </a:pPr>
            <a:r>
              <a:rPr lang="en-US" sz="1122" dirty="0">
                <a:solidFill>
                  <a:srgbClr val="000000"/>
                </a:solidFill>
                <a:latin typeface="OpenSans-Regular" pitchFamily="34" charset="0"/>
                <a:ea typeface="OpenSans-Regular" pitchFamily="34" charset="-122"/>
                <a:cs typeface="OpenSans-Regular" pitchFamily="34" charset="-120"/>
              </a:rPr>
              <a:t>LLMs were used only for documentation and narrative support. All insights and findings were validated using computed statistics to ensure accuracy and avoid hallucinations.</a:t>
            </a:r>
            <a:endParaRPr lang="en-US" sz="1122" dirty="0"/>
          </a:p>
        </p:txBody>
      </p:sp>
      <p:pic>
        <p:nvPicPr>
          <p:cNvPr id="10" name="Image" descr="preencoded.png">    </p:cNvPr>
          <p:cNvPicPr>
            <a:picLocks noChangeAspect="1"/>
          </p:cNvPicPr>
          <p:nvPr/>
        </p:nvPicPr>
        <p:blipFill>
          <a:blip r:embed="rId1"/>
          <a:stretch>
            <a:fillRect/>
          </a:stretch>
        </p:blipFill>
        <p:spPr>
          <a:xfrm>
            <a:off x="6238875" y="1333500"/>
            <a:ext cx="2359009" cy="2359009"/>
          </a:xfrm>
          <a:prstGeom prst="rect">
            <a:avLst/>
          </a:prstGeom>
        </p:spPr>
      </p:pic>
      <p:sp>
        <p:nvSpPr>
          <p:cNvPr id="11" name="StaticPath"/>
          <p:cNvSpPr/>
          <p:nvPr/>
        </p:nvSpPr>
        <p:spPr>
          <a:xfrm>
            <a:off x="-1309687" y="3810000"/>
            <a:ext cx="1737360" cy="1737360"/>
          </a:xfrm>
          <a:prstGeom prst="ellipse">
            <a:avLst/>
          </a:prstGeom>
          <a:solidFill>
            <a:srgbClr val="000000">
              <a:alpha val="0"/>
            </a:srgbClr>
          </a:solidFill>
          <a:ln w="211667">
            <a:solidFill>
              <a:srgbClr val="FF9800"/>
            </a:solidFill>
            <a:prstDash val="solid"/>
          </a:ln>
        </p:spPr>
      </p:sp>
      <p:sp>
        <p:nvSpPr>
          <p:cNvPr id="12" name="StaticPath"/>
          <p:cNvSpPr/>
          <p:nvPr/>
        </p:nvSpPr>
        <p:spPr>
          <a:xfrm>
            <a:off x="285750" y="204788"/>
            <a:ext cx="482918" cy="482917"/>
          </a:xfrm>
          <a:prstGeom prst="ellipse">
            <a:avLst/>
          </a:prstGeom>
          <a:solidFill>
            <a:srgbClr val="00000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aticPath"/>
          <p:cNvSpPr/>
          <p:nvPr/>
        </p:nvSpPr>
        <p:spPr>
          <a:xfrm>
            <a:off x="3852767" y="169640"/>
            <a:ext cx="3157538" cy="3157538"/>
          </a:xfrm>
          <a:prstGeom prst="ellipse">
            <a:avLst/>
          </a:prstGeom>
          <a:solidFill>
            <a:srgbClr val="000000">
              <a:alpha val="4000"/>
            </a:srgbClr>
          </a:solidFill>
          <a:ln/>
        </p:spPr>
      </p:sp>
      <p:sp>
        <p:nvSpPr>
          <p:cNvPr id="3" name="StaticPath"/>
          <p:cNvSpPr/>
          <p:nvPr/>
        </p:nvSpPr>
        <p:spPr>
          <a:xfrm>
            <a:off x="3906869" y="-1913049"/>
            <a:ext cx="2428875" cy="2428875"/>
          </a:xfrm>
          <a:prstGeom prst="ellipse">
            <a:avLst/>
          </a:prstGeom>
          <a:solidFill>
            <a:srgbClr val="000000">
              <a:alpha val="0"/>
            </a:srgbClr>
          </a:solidFill>
          <a:ln w="423333">
            <a:solidFill>
              <a:srgbClr val="FF9800"/>
            </a:solidFill>
            <a:prstDash val="solid"/>
          </a:ln>
        </p:spPr>
      </p:sp>
      <p:sp>
        <p:nvSpPr>
          <p:cNvPr id="4" name="Title"/>
          <p:cNvSpPr/>
          <p:nvPr/>
        </p:nvSpPr>
        <p:spPr>
          <a:xfrm>
            <a:off x="4304062" y="1697879"/>
            <a:ext cx="2302794" cy="809525"/>
          </a:xfrm>
          <a:prstGeom prst="rect">
            <a:avLst/>
          </a:prstGeom>
          <a:noFill/>
          <a:ln/>
        </p:spPr>
        <p:txBody>
          <a:bodyPr wrap="square" rtlCol="0" anchor="ctr"/>
          <a:lstStyle/>
          <a:p>
            <a:pPr algn="ctr" indent="0" marL="0">
              <a:buNone/>
            </a:pPr>
            <a:r>
              <a:rPr lang="en-US" sz="2699" b="1" dirty="0">
                <a:solidFill>
                  <a:srgbClr val="333333"/>
                </a:solidFill>
                <a:latin typeface="OpenSans-Bold" pitchFamily="34" charset="0"/>
                <a:ea typeface="OpenSans-Bold" pitchFamily="34" charset="-122"/>
                <a:cs typeface="OpenSans-Bold" pitchFamily="34" charset="-120"/>
              </a:rPr>
              <a:t>Key Findings Overview</a:t>
            </a:r>
            <a:endParaRPr lang="en-US" sz="2699" dirty="0"/>
          </a:p>
        </p:txBody>
      </p:sp>
      <p:sp>
        <p:nvSpPr>
          <p:cNvPr id="5" name="Bullet circle 1"/>
          <p:cNvSpPr/>
          <p:nvPr/>
        </p:nvSpPr>
        <p:spPr>
          <a:xfrm>
            <a:off x="347662" y="857250"/>
            <a:ext cx="474345" cy="474345"/>
          </a:xfrm>
          <a:prstGeom prst="ellipse">
            <a:avLst/>
          </a:prstGeom>
          <a:solidFill>
            <a:srgbClr val="FF9800"/>
          </a:solidFill>
          <a:ln/>
        </p:spPr>
      </p:sp>
      <p:sp>
        <p:nvSpPr>
          <p:cNvPr id="6" name="Bullet index 1"/>
          <p:cNvSpPr/>
          <p:nvPr/>
        </p:nvSpPr>
        <p:spPr>
          <a:xfrm>
            <a:off x="879634" y="966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01</a:t>
            </a:r>
            <a:endParaRPr lang="en-US" sz="1493" dirty="0"/>
          </a:p>
        </p:txBody>
      </p:sp>
      <p:sp>
        <p:nvSpPr>
          <p:cNvPr id="7" name="Bullet text 1"/>
          <p:cNvSpPr/>
          <p:nvPr/>
        </p:nvSpPr>
        <p:spPr>
          <a:xfrm>
            <a:off x="1388221" y="966788"/>
            <a:ext cx="2525268" cy="333604"/>
          </a:xfrm>
          <a:prstGeom prst="rect">
            <a:avLst/>
          </a:prstGeom>
          <a:noFill/>
          <a:ln/>
        </p:spPr>
        <p:txBody>
          <a:bodyPr wrap="square" rtlCol="0" anchor="ctr"/>
          <a:lstStyle/>
          <a:p>
            <a:pPr algn="l" indent="0" marL="0">
              <a:buNone/>
            </a:pPr>
            <a:r>
              <a:rPr lang="en-US" sz="1291" dirty="0">
                <a:solidFill>
                  <a:srgbClr val="333333"/>
                </a:solidFill>
                <a:latin typeface="OpenSans-Regular" pitchFamily="34" charset="0"/>
                <a:ea typeface="OpenSans-Regular" pitchFamily="34" charset="-122"/>
                <a:cs typeface="OpenSans-Regular" pitchFamily="34" charset="-120"/>
              </a:rPr>
              <a:t>Violations concentrated in specific neighborhoods</a:t>
            </a:r>
            <a:endParaRPr lang="en-US" sz="1291" dirty="0"/>
          </a:p>
        </p:txBody>
      </p:sp>
      <p:sp>
        <p:nvSpPr>
          <p:cNvPr id="8" name="Bullet circle 2"/>
          <p:cNvSpPr/>
          <p:nvPr/>
        </p:nvSpPr>
        <p:spPr>
          <a:xfrm>
            <a:off x="347662" y="1619250"/>
            <a:ext cx="474345" cy="474345"/>
          </a:xfrm>
          <a:prstGeom prst="ellipse">
            <a:avLst/>
          </a:prstGeom>
          <a:solidFill>
            <a:srgbClr val="FF9800"/>
          </a:solidFill>
          <a:ln/>
        </p:spPr>
      </p:sp>
      <p:sp>
        <p:nvSpPr>
          <p:cNvPr id="9" name="Bullet index 2"/>
          <p:cNvSpPr/>
          <p:nvPr/>
        </p:nvSpPr>
        <p:spPr>
          <a:xfrm>
            <a:off x="879634" y="1728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02</a:t>
            </a:r>
            <a:endParaRPr lang="en-US" sz="1493" dirty="0"/>
          </a:p>
        </p:txBody>
      </p:sp>
      <p:sp>
        <p:nvSpPr>
          <p:cNvPr id="10" name="Bullet text 2"/>
          <p:cNvSpPr/>
          <p:nvPr/>
        </p:nvSpPr>
        <p:spPr>
          <a:xfrm>
            <a:off x="1388221" y="1728788"/>
            <a:ext cx="2525268" cy="166802"/>
          </a:xfrm>
          <a:prstGeom prst="rect">
            <a:avLst/>
          </a:prstGeom>
          <a:noFill/>
          <a:ln/>
        </p:spPr>
        <p:txBody>
          <a:bodyPr wrap="square" rtlCol="0" anchor="ctr"/>
          <a:lstStyle/>
          <a:p>
            <a:pPr algn="l" indent="0" marL="0">
              <a:buNone/>
            </a:pPr>
            <a:r>
              <a:rPr lang="en-US" sz="1291" dirty="0">
                <a:solidFill>
                  <a:srgbClr val="333333"/>
                </a:solidFill>
                <a:latin typeface="OpenSans-Regular" pitchFamily="34" charset="0"/>
                <a:ea typeface="OpenSans-Regular" pitchFamily="34" charset="-122"/>
                <a:cs typeface="OpenSans-Regular" pitchFamily="34" charset="-120"/>
              </a:rPr>
              <a:t>Few violation types dominate</a:t>
            </a:r>
            <a:endParaRPr lang="en-US" sz="1291" dirty="0"/>
          </a:p>
        </p:txBody>
      </p:sp>
      <p:sp>
        <p:nvSpPr>
          <p:cNvPr id="11" name="Bullet circle 3"/>
          <p:cNvSpPr/>
          <p:nvPr/>
        </p:nvSpPr>
        <p:spPr>
          <a:xfrm>
            <a:off x="347662" y="2381250"/>
            <a:ext cx="474345" cy="474345"/>
          </a:xfrm>
          <a:prstGeom prst="ellipse">
            <a:avLst/>
          </a:prstGeom>
          <a:solidFill>
            <a:srgbClr val="FF9800"/>
          </a:solidFill>
          <a:ln/>
        </p:spPr>
      </p:sp>
      <p:sp>
        <p:nvSpPr>
          <p:cNvPr id="12" name="Bullet index 3"/>
          <p:cNvSpPr/>
          <p:nvPr/>
        </p:nvSpPr>
        <p:spPr>
          <a:xfrm>
            <a:off x="879634" y="2490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03</a:t>
            </a:r>
            <a:endParaRPr lang="en-US" sz="1493" dirty="0"/>
          </a:p>
        </p:txBody>
      </p:sp>
      <p:sp>
        <p:nvSpPr>
          <p:cNvPr id="13" name="Bullet text 3"/>
          <p:cNvSpPr/>
          <p:nvPr/>
        </p:nvSpPr>
        <p:spPr>
          <a:xfrm>
            <a:off x="1388221" y="2490788"/>
            <a:ext cx="2525268" cy="166802"/>
          </a:xfrm>
          <a:prstGeom prst="rect">
            <a:avLst/>
          </a:prstGeom>
          <a:noFill/>
          <a:ln/>
        </p:spPr>
        <p:txBody>
          <a:bodyPr wrap="square" rtlCol="0" anchor="ctr"/>
          <a:lstStyle/>
          <a:p>
            <a:pPr algn="l" indent="0" marL="0">
              <a:buNone/>
            </a:pPr>
            <a:r>
              <a:rPr lang="en-US" sz="1291" dirty="0">
                <a:solidFill>
                  <a:srgbClr val="333333"/>
                </a:solidFill>
                <a:latin typeface="OpenSans-Regular" pitchFamily="34" charset="0"/>
                <a:ea typeface="OpenSans-Regular" pitchFamily="34" charset="-122"/>
                <a:cs typeface="OpenSans-Regular" pitchFamily="34" charset="-120"/>
              </a:rPr>
              <a:t>Trends increase over time</a:t>
            </a:r>
            <a:endParaRPr lang="en-US" sz="1291" dirty="0"/>
          </a:p>
        </p:txBody>
      </p:sp>
      <p:sp>
        <p:nvSpPr>
          <p:cNvPr id="14" name="Bullet circle 4"/>
          <p:cNvSpPr/>
          <p:nvPr/>
        </p:nvSpPr>
        <p:spPr>
          <a:xfrm>
            <a:off x="347662" y="3143250"/>
            <a:ext cx="474345" cy="474345"/>
          </a:xfrm>
          <a:prstGeom prst="ellipse">
            <a:avLst/>
          </a:prstGeom>
          <a:solidFill>
            <a:srgbClr val="FF9800"/>
          </a:solidFill>
          <a:ln/>
        </p:spPr>
      </p:sp>
      <p:sp>
        <p:nvSpPr>
          <p:cNvPr id="15" name="Bullet index 4"/>
          <p:cNvSpPr/>
          <p:nvPr/>
        </p:nvSpPr>
        <p:spPr>
          <a:xfrm>
            <a:off x="879634" y="3252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04</a:t>
            </a:r>
            <a:endParaRPr lang="en-US" sz="1493" dirty="0"/>
          </a:p>
        </p:txBody>
      </p:sp>
      <p:sp>
        <p:nvSpPr>
          <p:cNvPr id="16" name="Bullet text 4"/>
          <p:cNvSpPr/>
          <p:nvPr/>
        </p:nvSpPr>
        <p:spPr>
          <a:xfrm>
            <a:off x="1388221" y="3252788"/>
            <a:ext cx="2525268" cy="333604"/>
          </a:xfrm>
          <a:prstGeom prst="rect">
            <a:avLst/>
          </a:prstGeom>
          <a:noFill/>
          <a:ln/>
        </p:spPr>
        <p:txBody>
          <a:bodyPr wrap="square" rtlCol="0" anchor="ctr"/>
          <a:lstStyle/>
          <a:p>
            <a:pPr algn="l" indent="0" marL="0">
              <a:buNone/>
            </a:pPr>
            <a:r>
              <a:rPr lang="en-US" sz="1291" dirty="0">
                <a:solidFill>
                  <a:srgbClr val="333333"/>
                </a:solidFill>
                <a:latin typeface="OpenSans-Regular" pitchFamily="34" charset="0"/>
                <a:ea typeface="OpenSans-Regular" pitchFamily="34" charset="-122"/>
                <a:cs typeface="OpenSans-Regular" pitchFamily="34" charset="-120"/>
              </a:rPr>
              <a:t>Most cases resolved but backlog exists</a:t>
            </a:r>
            <a:endParaRPr lang="en-US" sz="1291" dirty="0"/>
          </a:p>
        </p:txBody>
      </p:sp>
      <p:sp>
        <p:nvSpPr>
          <p:cNvPr id="17" name="Bullet circle 5"/>
          <p:cNvSpPr/>
          <p:nvPr/>
        </p:nvSpPr>
        <p:spPr>
          <a:xfrm>
            <a:off x="347662" y="3905250"/>
            <a:ext cx="474345" cy="474345"/>
          </a:xfrm>
          <a:prstGeom prst="ellipse">
            <a:avLst/>
          </a:prstGeom>
          <a:solidFill>
            <a:srgbClr val="FF9800"/>
          </a:solidFill>
          <a:ln/>
        </p:spPr>
      </p:sp>
      <p:sp>
        <p:nvSpPr>
          <p:cNvPr id="18" name="Bullet index 5"/>
          <p:cNvSpPr/>
          <p:nvPr/>
        </p:nvSpPr>
        <p:spPr>
          <a:xfrm>
            <a:off x="879634" y="4014788"/>
            <a:ext cx="475726" cy="241078"/>
          </a:xfrm>
          <a:prstGeom prst="rect">
            <a:avLst/>
          </a:prstGeom>
          <a:noFill/>
          <a:ln/>
        </p:spPr>
        <p:txBody>
          <a:bodyPr wrap="square" rtlCol="0" anchor="ctr"/>
          <a:lstStyle/>
          <a:p>
            <a:pPr algn="ctr" indent="0" marL="0">
              <a:buNone/>
            </a:pPr>
            <a:r>
              <a:rPr lang="en-US" sz="1493" b="1" dirty="0">
                <a:solidFill>
                  <a:srgbClr val="333333"/>
                </a:solidFill>
                <a:latin typeface="Prompt-Bold" pitchFamily="34" charset="0"/>
                <a:ea typeface="Prompt-Bold" pitchFamily="34" charset="-122"/>
                <a:cs typeface="Prompt-Bold" pitchFamily="34" charset="-120"/>
              </a:rPr>
              <a:t>05</a:t>
            </a:r>
            <a:endParaRPr lang="en-US" sz="1493" dirty="0"/>
          </a:p>
        </p:txBody>
      </p:sp>
      <p:sp>
        <p:nvSpPr>
          <p:cNvPr id="19" name="Bullet text 5"/>
          <p:cNvSpPr/>
          <p:nvPr/>
        </p:nvSpPr>
        <p:spPr>
          <a:xfrm>
            <a:off x="1388221" y="4014788"/>
            <a:ext cx="2525268" cy="333604"/>
          </a:xfrm>
          <a:prstGeom prst="rect">
            <a:avLst/>
          </a:prstGeom>
          <a:noFill/>
          <a:ln/>
        </p:spPr>
        <p:txBody>
          <a:bodyPr wrap="square" rtlCol="0" anchor="ctr"/>
          <a:lstStyle/>
          <a:p>
            <a:pPr algn="l" indent="0" marL="0">
              <a:buNone/>
            </a:pPr>
            <a:r>
              <a:rPr lang="en-US" sz="1291" dirty="0">
                <a:solidFill>
                  <a:srgbClr val="333333"/>
                </a:solidFill>
                <a:latin typeface="OpenSans-Regular" pitchFamily="34" charset="0"/>
                <a:ea typeface="OpenSans-Regular" pitchFamily="34" charset="-122"/>
                <a:cs typeface="OpenSans-Regular" pitchFamily="34" charset="-120"/>
              </a:rPr>
              <a:t>Resolution time varies across neighborhoods</a:t>
            </a:r>
            <a:endParaRPr lang="en-US" sz="1291" dirty="0"/>
          </a:p>
        </p:txBody>
      </p:sp>
      <p:pic>
        <p:nvPicPr>
          <p:cNvPr id="20" name="Image" descr="preencoded.png">    </p:cNvPr>
          <p:cNvPicPr>
            <a:picLocks noChangeAspect="1"/>
          </p:cNvPicPr>
          <p:nvPr/>
        </p:nvPicPr>
        <p:blipFill>
          <a:blip r:embed="rId1"/>
          <a:stretch>
            <a:fillRect/>
          </a:stretch>
        </p:blipFill>
        <p:spPr>
          <a:xfrm>
            <a:off x="6569916" y="2586085"/>
            <a:ext cx="2332863" cy="23328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taticPath"/>
          <p:cNvSpPr/>
          <p:nvPr/>
        </p:nvSpPr>
        <p:spPr>
          <a:xfrm>
            <a:off x="7143750" y="0"/>
            <a:ext cx="2000250" cy="5143500"/>
          </a:xfrm>
          <a:prstGeom prst="rect">
            <a:avLst/>
          </a:prstGeom>
          <a:solidFill>
            <a:srgbClr val="FF9800"/>
          </a:solidFill>
          <a:ln/>
        </p:spPr>
      </p:sp>
      <p:sp>
        <p:nvSpPr>
          <p:cNvPr id="3" name="Title"/>
          <p:cNvSpPr/>
          <p:nvPr/>
        </p:nvSpPr>
        <p:spPr>
          <a:xfrm>
            <a:off x="1190625" y="357188"/>
            <a:ext cx="5715000" cy="306753"/>
          </a:xfrm>
          <a:prstGeom prst="rect">
            <a:avLst/>
          </a:prstGeom>
          <a:noFill/>
          <a:ln/>
        </p:spPr>
        <p:txBody>
          <a:bodyPr wrap="square" rtlCol="0" anchor="ctr"/>
          <a:lstStyle/>
          <a:p>
            <a:pPr algn="l" indent="0" marL="0">
              <a:buNone/>
            </a:pPr>
            <a:r>
              <a:rPr lang="en-US" sz="1900" b="1" dirty="0">
                <a:solidFill>
                  <a:srgbClr val="333333"/>
                </a:solidFill>
                <a:latin typeface="OpenSans-Bold" pitchFamily="34" charset="0"/>
                <a:ea typeface="OpenSans-Bold" pitchFamily="34" charset="-122"/>
                <a:cs typeface="OpenSans-Bold" pitchFamily="34" charset="-120"/>
              </a:rPr>
              <a:t>Neighborhood Patterns</a:t>
            </a:r>
            <a:endParaRPr lang="en-US" sz="1900" dirty="0"/>
          </a:p>
        </p:txBody>
      </p:sp>
      <p:sp>
        <p:nvSpPr>
          <p:cNvPr id="4" name="Subtitle 1"/>
          <p:cNvSpPr/>
          <p:nvPr/>
        </p:nvSpPr>
        <p:spPr>
          <a:xfrm>
            <a:off x="714375" y="1214057"/>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Observation</a:t>
            </a:r>
            <a:endParaRPr lang="en-US" sz="1500" dirty="0"/>
          </a:p>
        </p:txBody>
      </p:sp>
      <p:sp>
        <p:nvSpPr>
          <p:cNvPr id="5" name="Paragraph 1"/>
          <p:cNvSpPr/>
          <p:nvPr/>
        </p:nvSpPr>
        <p:spPr>
          <a:xfrm>
            <a:off x="714375" y="1571625"/>
            <a:ext cx="4525470" cy="737759"/>
          </a:xfrm>
          <a:prstGeom prst="rect">
            <a:avLst/>
          </a:prstGeom>
          <a:noFill/>
          <a:ln/>
        </p:spPr>
        <p:txBody>
          <a:bodyPr wrap="square" rtlCol="0" anchor="ctr"/>
          <a:lstStyle/>
          <a:p>
            <a:pPr algn="l" indent="0" marL="0">
              <a:buNone/>
            </a:pPr>
            <a:r>
              <a:rPr lang="en-US" sz="1142" dirty="0">
                <a:solidFill>
                  <a:srgbClr val="000000"/>
                </a:solidFill>
                <a:latin typeface="OpenSans-Regular" pitchFamily="34" charset="0"/>
                <a:ea typeface="OpenSans-Regular" pitchFamily="34" charset="-122"/>
                <a:cs typeface="OpenSans-Regular" pitchFamily="34" charset="-120"/>
              </a:rPr>
              <a:t>Violations are heavily concentrated in specific neighborhoods such as Northside, Brighton, and Near Westside. This uneven distribution highlights areas with higher housing challenges.</a:t>
            </a:r>
            <a:endParaRPr lang="en-US" sz="1142" dirty="0"/>
          </a:p>
        </p:txBody>
      </p:sp>
      <p:sp>
        <p:nvSpPr>
          <p:cNvPr id="6" name="Subtitle 2"/>
          <p:cNvSpPr/>
          <p:nvPr/>
        </p:nvSpPr>
        <p:spPr>
          <a:xfrm>
            <a:off x="714375" y="2524125"/>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Interpretation</a:t>
            </a:r>
            <a:endParaRPr lang="en-US" sz="1500" dirty="0"/>
          </a:p>
        </p:txBody>
      </p:sp>
      <p:sp>
        <p:nvSpPr>
          <p:cNvPr id="7" name="Paragraph 2"/>
          <p:cNvSpPr/>
          <p:nvPr/>
        </p:nvSpPr>
        <p:spPr>
          <a:xfrm>
            <a:off x="714375" y="2799683"/>
            <a:ext cx="4783217" cy="737759"/>
          </a:xfrm>
          <a:prstGeom prst="rect">
            <a:avLst/>
          </a:prstGeom>
          <a:noFill/>
          <a:ln/>
        </p:spPr>
        <p:txBody>
          <a:bodyPr wrap="square" rtlCol="0" anchor="ctr"/>
          <a:lstStyle/>
          <a:p>
            <a:pPr algn="l" indent="0" marL="0">
              <a:buNone/>
            </a:pPr>
            <a:r>
              <a:rPr lang="en-US" sz="1142" dirty="0">
                <a:solidFill>
                  <a:srgbClr val="000000"/>
                </a:solidFill>
                <a:latin typeface="OpenSans-Regular" pitchFamily="34" charset="0"/>
                <a:ea typeface="OpenSans-Regular" pitchFamily="34" charset="-122"/>
                <a:cs typeface="OpenSans-Regular" pitchFamily="34" charset="-120"/>
              </a:rPr>
              <a:t>The concentration may reflect differences in housing conditions, enforcement, or reporting behavior. These patterns suggest the need for targeted attention in specific areas.</a:t>
            </a:r>
            <a:endParaRPr lang="en-US" sz="1142" dirty="0"/>
          </a:p>
        </p:txBody>
      </p:sp>
      <p:sp>
        <p:nvSpPr>
          <p:cNvPr id="8" name="Subtitle 3"/>
          <p:cNvSpPr/>
          <p:nvPr/>
        </p:nvSpPr>
        <p:spPr>
          <a:xfrm>
            <a:off x="714375" y="3701510"/>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Impact</a:t>
            </a:r>
            <a:endParaRPr lang="en-US" sz="1500" dirty="0"/>
          </a:p>
        </p:txBody>
      </p:sp>
      <p:sp>
        <p:nvSpPr>
          <p:cNvPr id="9" name="Paragraph 3"/>
          <p:cNvSpPr/>
          <p:nvPr/>
        </p:nvSpPr>
        <p:spPr>
          <a:xfrm>
            <a:off x="714375" y="4000500"/>
            <a:ext cx="5238750" cy="553307"/>
          </a:xfrm>
          <a:prstGeom prst="rect">
            <a:avLst/>
          </a:prstGeom>
          <a:noFill/>
          <a:ln/>
        </p:spPr>
        <p:txBody>
          <a:bodyPr wrap="square" rtlCol="0" anchor="ctr"/>
          <a:lstStyle/>
          <a:p>
            <a:pPr algn="l" indent="0" marL="0">
              <a:buNone/>
            </a:pPr>
            <a:r>
              <a:rPr lang="en-US" sz="1142" dirty="0">
                <a:solidFill>
                  <a:srgbClr val="000000"/>
                </a:solidFill>
                <a:latin typeface="OpenSans-Regular" pitchFamily="34" charset="0"/>
                <a:ea typeface="OpenSans-Regular" pitchFamily="34" charset="-122"/>
                <a:cs typeface="OpenSans-Regular" pitchFamily="34" charset="-120"/>
              </a:rPr>
              <a:t>City officials can use this insight to allocate resources, prioritize inspections, and design interventions for neighborhoods with the highest needs.</a:t>
            </a:r>
            <a:endParaRPr lang="en-US" sz="1142" dirty="0"/>
          </a:p>
        </p:txBody>
      </p:sp>
      <p:sp>
        <p:nvSpPr>
          <p:cNvPr id="10" name="StaticPath"/>
          <p:cNvSpPr/>
          <p:nvPr/>
        </p:nvSpPr>
        <p:spPr>
          <a:xfrm>
            <a:off x="-1309687" y="3810000"/>
            <a:ext cx="1737360" cy="1737360"/>
          </a:xfrm>
          <a:prstGeom prst="ellipse">
            <a:avLst/>
          </a:prstGeom>
          <a:solidFill>
            <a:srgbClr val="000000">
              <a:alpha val="0"/>
            </a:srgbClr>
          </a:solidFill>
          <a:ln w="211667">
            <a:solidFill>
              <a:srgbClr val="FF9800"/>
            </a:solidFill>
            <a:prstDash val="solid"/>
          </a:ln>
        </p:spPr>
      </p:sp>
      <p:sp>
        <p:nvSpPr>
          <p:cNvPr id="11" name="StaticPath"/>
          <p:cNvSpPr/>
          <p:nvPr/>
        </p:nvSpPr>
        <p:spPr>
          <a:xfrm>
            <a:off x="285750" y="204788"/>
            <a:ext cx="482918" cy="482917"/>
          </a:xfrm>
          <a:prstGeom prst="ellipse">
            <a:avLst/>
          </a:prstGeom>
          <a:solidFill>
            <a:srgbClr val="000000"/>
          </a:solidFill>
          <a:ln/>
        </p:spPr>
      </p:sp>
      <p:pic>
        <p:nvPicPr>
          <p:cNvPr id="12" name="StaticImage" descr="preencoded.png">    </p:cNvPr>
          <p:cNvPicPr>
            <a:picLocks noChangeAspect="1"/>
          </p:cNvPicPr>
          <p:nvPr/>
        </p:nvPicPr>
        <p:blipFill>
          <a:blip r:embed="rId1"/>
          <a:stretch>
            <a:fillRect/>
          </a:stretch>
        </p:blipFill>
        <p:spPr>
          <a:xfrm>
            <a:off x="5481114" y="1622727"/>
            <a:ext cx="3643313" cy="228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taticPath"/>
          <p:cNvSpPr/>
          <p:nvPr/>
        </p:nvSpPr>
        <p:spPr>
          <a:xfrm>
            <a:off x="7143750" y="0"/>
            <a:ext cx="2000250" cy="5143500"/>
          </a:xfrm>
          <a:prstGeom prst="rect">
            <a:avLst/>
          </a:prstGeom>
          <a:solidFill>
            <a:srgbClr val="FF9800"/>
          </a:solidFill>
          <a:ln/>
        </p:spPr>
      </p:sp>
      <p:sp>
        <p:nvSpPr>
          <p:cNvPr id="3" name="Title"/>
          <p:cNvSpPr/>
          <p:nvPr/>
        </p:nvSpPr>
        <p:spPr>
          <a:xfrm>
            <a:off x="1190625" y="357188"/>
            <a:ext cx="5715000" cy="306753"/>
          </a:xfrm>
          <a:prstGeom prst="rect">
            <a:avLst/>
          </a:prstGeom>
          <a:noFill/>
          <a:ln/>
        </p:spPr>
        <p:txBody>
          <a:bodyPr wrap="square" rtlCol="0" anchor="ctr"/>
          <a:lstStyle/>
          <a:p>
            <a:pPr algn="l" indent="0" marL="0">
              <a:buNone/>
            </a:pPr>
            <a:r>
              <a:rPr lang="en-US" sz="1900" b="1" dirty="0">
                <a:solidFill>
                  <a:srgbClr val="333333"/>
                </a:solidFill>
                <a:latin typeface="OpenSans-Bold" pitchFamily="34" charset="0"/>
                <a:ea typeface="OpenSans-Bold" pitchFamily="34" charset="-122"/>
                <a:cs typeface="OpenSans-Bold" pitchFamily="34" charset="-120"/>
              </a:rPr>
              <a:t>Violation Types &amp; Trends</a:t>
            </a:r>
            <a:endParaRPr lang="en-US" sz="1900" dirty="0"/>
          </a:p>
        </p:txBody>
      </p:sp>
      <p:sp>
        <p:nvSpPr>
          <p:cNvPr id="4" name="Subtitle 1"/>
          <p:cNvSpPr/>
          <p:nvPr/>
        </p:nvSpPr>
        <p:spPr>
          <a:xfrm>
            <a:off x="714375" y="1190625"/>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Key Patterns</a:t>
            </a:r>
            <a:endParaRPr lang="en-US" sz="1500" dirty="0"/>
          </a:p>
        </p:txBody>
      </p:sp>
      <p:sp>
        <p:nvSpPr>
          <p:cNvPr id="5" name="Paragraph 1"/>
          <p:cNvSpPr/>
          <p:nvPr/>
        </p:nvSpPr>
        <p:spPr>
          <a:xfrm>
            <a:off x="714375" y="1475042"/>
            <a:ext cx="4473416" cy="761238"/>
          </a:xfrm>
          <a:prstGeom prst="rect">
            <a:avLst/>
          </a:prstGeom>
          <a:noFill/>
          <a:ln/>
        </p:spPr>
        <p:txBody>
          <a:bodyPr wrap="square" rtlCol="0" anchor="ctr"/>
          <a:lstStyle/>
          <a:p>
            <a:pPr algn="l" indent="0" marL="0">
              <a:buNone/>
            </a:pPr>
            <a:r>
              <a:rPr lang="en-US" sz="1179" dirty="0">
                <a:solidFill>
                  <a:srgbClr val="000000"/>
                </a:solidFill>
                <a:latin typeface="OpenSans-Regular" pitchFamily="34" charset="0"/>
                <a:ea typeface="OpenSans-Regular" pitchFamily="34" charset="-122"/>
                <a:cs typeface="OpenSans-Regular" pitchFamily="34" charset="-120"/>
              </a:rPr>
              <a:t>A small number of violation types, particularly overgrowth and trash-related issues, account for a large share of all reported cases. This indicates recurring problems rather than isolated incidents.</a:t>
            </a:r>
            <a:endParaRPr lang="en-US" sz="1179" dirty="0"/>
          </a:p>
        </p:txBody>
      </p:sp>
      <p:sp>
        <p:nvSpPr>
          <p:cNvPr id="6" name="Subtitle 2"/>
          <p:cNvSpPr/>
          <p:nvPr/>
        </p:nvSpPr>
        <p:spPr>
          <a:xfrm>
            <a:off x="714375" y="2524125"/>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Trends Over Time</a:t>
            </a:r>
            <a:endParaRPr lang="en-US" sz="1500" dirty="0"/>
          </a:p>
        </p:txBody>
      </p:sp>
      <p:sp>
        <p:nvSpPr>
          <p:cNvPr id="7" name="Paragraph 2"/>
          <p:cNvSpPr/>
          <p:nvPr/>
        </p:nvSpPr>
        <p:spPr>
          <a:xfrm>
            <a:off x="714375" y="2820591"/>
            <a:ext cx="4739021" cy="570929"/>
          </a:xfrm>
          <a:prstGeom prst="rect">
            <a:avLst/>
          </a:prstGeom>
          <a:noFill/>
          <a:ln/>
        </p:spPr>
        <p:txBody>
          <a:bodyPr wrap="square" rtlCol="0" anchor="ctr"/>
          <a:lstStyle/>
          <a:p>
            <a:pPr algn="l" indent="0" marL="0">
              <a:buNone/>
            </a:pPr>
            <a:r>
              <a:rPr lang="en-US" sz="1179" dirty="0">
                <a:solidFill>
                  <a:srgbClr val="000000"/>
                </a:solidFill>
                <a:latin typeface="OpenSans-Regular" pitchFamily="34" charset="0"/>
                <a:ea typeface="OpenSans-Regular" pitchFamily="34" charset="-122"/>
                <a:cs typeface="OpenSans-Regular" pitchFamily="34" charset="-120"/>
              </a:rPr>
              <a:t>The number of violations has increased over time, peaking around recent years. This may reflect changes in reporting, enforcement, or actual housing conditions.</a:t>
            </a:r>
            <a:endParaRPr lang="en-US" sz="1179" dirty="0"/>
          </a:p>
        </p:txBody>
      </p:sp>
      <p:sp>
        <p:nvSpPr>
          <p:cNvPr id="8" name="Subtitle 3"/>
          <p:cNvSpPr/>
          <p:nvPr/>
        </p:nvSpPr>
        <p:spPr>
          <a:xfrm>
            <a:off x="714375" y="3619500"/>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Impact</a:t>
            </a:r>
            <a:endParaRPr lang="en-US" sz="1500" dirty="0"/>
          </a:p>
        </p:txBody>
      </p:sp>
      <p:sp>
        <p:nvSpPr>
          <p:cNvPr id="9" name="Paragraph 3"/>
          <p:cNvSpPr/>
          <p:nvPr/>
        </p:nvSpPr>
        <p:spPr>
          <a:xfrm>
            <a:off x="714375" y="3915966"/>
            <a:ext cx="4956334" cy="570929"/>
          </a:xfrm>
          <a:prstGeom prst="rect">
            <a:avLst/>
          </a:prstGeom>
          <a:noFill/>
          <a:ln/>
        </p:spPr>
        <p:txBody>
          <a:bodyPr wrap="square" rtlCol="0" anchor="ctr"/>
          <a:lstStyle/>
          <a:p>
            <a:pPr algn="l" indent="0" marL="0">
              <a:buNone/>
            </a:pPr>
            <a:r>
              <a:rPr lang="en-US" sz="1179" dirty="0">
                <a:solidFill>
                  <a:srgbClr val="000000"/>
                </a:solidFill>
                <a:latin typeface="OpenSans-Regular" pitchFamily="34" charset="0"/>
                <a:ea typeface="OpenSans-Regular" pitchFamily="34" charset="-122"/>
                <a:cs typeface="OpenSans-Regular" pitchFamily="34" charset="-120"/>
              </a:rPr>
              <a:t>Addressing the most common violation types could significantly reduce total cases and improve overall neighborhood conditions.</a:t>
            </a:r>
            <a:endParaRPr lang="en-US" sz="1179" dirty="0"/>
          </a:p>
        </p:txBody>
      </p:sp>
      <p:sp>
        <p:nvSpPr>
          <p:cNvPr id="10" name="StaticPath"/>
          <p:cNvSpPr/>
          <p:nvPr/>
        </p:nvSpPr>
        <p:spPr>
          <a:xfrm>
            <a:off x="-1309687" y="3810000"/>
            <a:ext cx="1737360" cy="1737360"/>
          </a:xfrm>
          <a:prstGeom prst="ellipse">
            <a:avLst/>
          </a:prstGeom>
          <a:solidFill>
            <a:srgbClr val="000000">
              <a:alpha val="0"/>
            </a:srgbClr>
          </a:solidFill>
          <a:ln w="211667">
            <a:solidFill>
              <a:srgbClr val="FF9800"/>
            </a:solidFill>
            <a:prstDash val="solid"/>
          </a:ln>
        </p:spPr>
      </p:sp>
      <p:sp>
        <p:nvSpPr>
          <p:cNvPr id="11" name="StaticPath"/>
          <p:cNvSpPr/>
          <p:nvPr/>
        </p:nvSpPr>
        <p:spPr>
          <a:xfrm>
            <a:off x="285750" y="204788"/>
            <a:ext cx="482918" cy="482917"/>
          </a:xfrm>
          <a:prstGeom prst="ellipse">
            <a:avLst/>
          </a:prstGeom>
          <a:solidFill>
            <a:srgbClr val="000000"/>
          </a:solidFill>
          <a:ln/>
        </p:spPr>
      </p:sp>
      <p:pic>
        <p:nvPicPr>
          <p:cNvPr id="12" name="StaticImage" descr="preencoded.png">    </p:cNvPr>
          <p:cNvPicPr>
            <a:picLocks noChangeAspect="1"/>
          </p:cNvPicPr>
          <p:nvPr/>
        </p:nvPicPr>
        <p:blipFill>
          <a:blip r:embed="rId1"/>
          <a:stretch>
            <a:fillRect/>
          </a:stretch>
        </p:blipFill>
        <p:spPr>
          <a:xfrm>
            <a:off x="5436299" y="860584"/>
            <a:ext cx="3571875" cy="1785938"/>
          </a:xfrm>
          <a:prstGeom prst="rect">
            <a:avLst/>
          </a:prstGeom>
        </p:spPr>
      </p:pic>
      <p:pic>
        <p:nvPicPr>
          <p:cNvPr id="13" name="StaticImage" descr="preencoded.png">    </p:cNvPr>
          <p:cNvPicPr>
            <a:picLocks noChangeAspect="1"/>
          </p:cNvPicPr>
          <p:nvPr/>
        </p:nvPicPr>
        <p:blipFill>
          <a:blip r:embed="rId2"/>
          <a:stretch>
            <a:fillRect/>
          </a:stretch>
        </p:blipFill>
        <p:spPr>
          <a:xfrm>
            <a:off x="5741146" y="2838402"/>
            <a:ext cx="3429000" cy="1714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taticPath"/>
          <p:cNvSpPr/>
          <p:nvPr/>
        </p:nvSpPr>
        <p:spPr>
          <a:xfrm>
            <a:off x="7143750" y="0"/>
            <a:ext cx="2000250" cy="5143500"/>
          </a:xfrm>
          <a:prstGeom prst="rect">
            <a:avLst/>
          </a:prstGeom>
          <a:solidFill>
            <a:srgbClr val="FF9800"/>
          </a:solidFill>
          <a:ln/>
        </p:spPr>
      </p:sp>
      <p:sp>
        <p:nvSpPr>
          <p:cNvPr id="3" name="Title"/>
          <p:cNvSpPr/>
          <p:nvPr/>
        </p:nvSpPr>
        <p:spPr>
          <a:xfrm>
            <a:off x="1190625" y="357188"/>
            <a:ext cx="5715000" cy="306753"/>
          </a:xfrm>
          <a:prstGeom prst="rect">
            <a:avLst/>
          </a:prstGeom>
          <a:noFill/>
          <a:ln/>
        </p:spPr>
        <p:txBody>
          <a:bodyPr wrap="square" rtlCol="0" anchor="ctr"/>
          <a:lstStyle/>
          <a:p>
            <a:pPr algn="l" indent="0" marL="0">
              <a:buNone/>
            </a:pPr>
            <a:r>
              <a:rPr lang="en-US" sz="1900" b="1" dirty="0">
                <a:solidFill>
                  <a:srgbClr val="333333"/>
                </a:solidFill>
                <a:latin typeface="OpenSans-Bold" pitchFamily="34" charset="0"/>
                <a:ea typeface="OpenSans-Bold" pitchFamily="34" charset="-122"/>
                <a:cs typeface="OpenSans-Bold" pitchFamily="34" charset="-120"/>
              </a:rPr>
              <a:t>System Performance</a:t>
            </a:r>
            <a:endParaRPr lang="en-US" sz="1900" dirty="0"/>
          </a:p>
        </p:txBody>
      </p:sp>
      <p:sp>
        <p:nvSpPr>
          <p:cNvPr id="4" name="Subtitle 1"/>
          <p:cNvSpPr/>
          <p:nvPr/>
        </p:nvSpPr>
        <p:spPr>
          <a:xfrm>
            <a:off x="714375" y="1190625"/>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Case Status</a:t>
            </a:r>
            <a:endParaRPr lang="en-US" sz="1500" dirty="0"/>
          </a:p>
        </p:txBody>
      </p:sp>
      <p:sp>
        <p:nvSpPr>
          <p:cNvPr id="5" name="Paragraph 1"/>
          <p:cNvSpPr/>
          <p:nvPr/>
        </p:nvSpPr>
        <p:spPr>
          <a:xfrm>
            <a:off x="714375" y="1499187"/>
            <a:ext cx="5028819" cy="585216"/>
          </a:xfrm>
          <a:prstGeom prst="rect">
            <a:avLst/>
          </a:prstGeom>
          <a:noFill/>
          <a:ln/>
        </p:spPr>
        <p:txBody>
          <a:bodyPr wrap="square" rtlCol="0" anchor="ctr"/>
          <a:lstStyle/>
          <a:p>
            <a:pPr algn="l" indent="0" marL="0">
              <a:buNone/>
            </a:pPr>
            <a:r>
              <a:rPr lang="en-US" sz="1208" dirty="0">
                <a:solidFill>
                  <a:srgbClr val="000000"/>
                </a:solidFill>
                <a:latin typeface="OpenSans-Regular" pitchFamily="34" charset="0"/>
                <a:ea typeface="OpenSans-Regular" pitchFamily="34" charset="-122"/>
                <a:cs typeface="OpenSans-Regular" pitchFamily="34" charset="-120"/>
              </a:rPr>
              <a:t>Most violations are eventually resolved, with a majority of cases marked as closed. However, a notable number of open cases remain, indicating ongoing workload.</a:t>
            </a:r>
            <a:endParaRPr lang="en-US" sz="1208" dirty="0"/>
          </a:p>
        </p:txBody>
      </p:sp>
      <p:sp>
        <p:nvSpPr>
          <p:cNvPr id="6" name="Subtitle 2"/>
          <p:cNvSpPr/>
          <p:nvPr/>
        </p:nvSpPr>
        <p:spPr>
          <a:xfrm>
            <a:off x="714375" y="2524125"/>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Resolution Time</a:t>
            </a:r>
            <a:endParaRPr lang="en-US" sz="1500" dirty="0"/>
          </a:p>
        </p:txBody>
      </p:sp>
      <p:sp>
        <p:nvSpPr>
          <p:cNvPr id="7" name="Paragraph 2"/>
          <p:cNvSpPr/>
          <p:nvPr/>
        </p:nvSpPr>
        <p:spPr>
          <a:xfrm>
            <a:off x="714375" y="2844737"/>
            <a:ext cx="4823555" cy="585216"/>
          </a:xfrm>
          <a:prstGeom prst="rect">
            <a:avLst/>
          </a:prstGeom>
          <a:noFill/>
          <a:ln/>
        </p:spPr>
        <p:txBody>
          <a:bodyPr wrap="square" rtlCol="0" anchor="ctr"/>
          <a:lstStyle/>
          <a:p>
            <a:pPr algn="l" indent="0" marL="0">
              <a:buNone/>
            </a:pPr>
            <a:r>
              <a:rPr lang="en-US" sz="1208" dirty="0">
                <a:solidFill>
                  <a:srgbClr val="000000"/>
                </a:solidFill>
                <a:latin typeface="OpenSans-Regular" pitchFamily="34" charset="0"/>
                <a:ea typeface="OpenSans-Regular" pitchFamily="34" charset="-122"/>
                <a:cs typeface="OpenSans-Regular" pitchFamily="34" charset="-120"/>
              </a:rPr>
              <a:t>Resolution time varies across neighborhoods, suggesting differences in service efficiency or case complexity. Some areas experience longer delays than others.</a:t>
            </a:r>
            <a:endParaRPr lang="en-US" sz="1208" dirty="0"/>
          </a:p>
        </p:txBody>
      </p:sp>
      <p:sp>
        <p:nvSpPr>
          <p:cNvPr id="8" name="Subtitle 3"/>
          <p:cNvSpPr/>
          <p:nvPr/>
        </p:nvSpPr>
        <p:spPr>
          <a:xfrm>
            <a:off x="714375" y="3679889"/>
            <a:ext cx="5238750" cy="242173"/>
          </a:xfrm>
          <a:prstGeom prst="rect">
            <a:avLst/>
          </a:prstGeom>
          <a:noFill/>
          <a:ln/>
        </p:spPr>
        <p:txBody>
          <a:bodyPr wrap="square" rtlCol="0" anchor="ctr"/>
          <a:lstStyle/>
          <a:p>
            <a:pPr algn="l" indent="0" marL="0">
              <a:buNone/>
            </a:pPr>
            <a:r>
              <a:rPr lang="en-US" sz="1500" b="1" dirty="0">
                <a:solidFill>
                  <a:srgbClr val="000000"/>
                </a:solidFill>
                <a:latin typeface="OpenSans-Bold" pitchFamily="34" charset="0"/>
                <a:ea typeface="OpenSans-Bold" pitchFamily="34" charset="-122"/>
                <a:cs typeface="OpenSans-Bold" pitchFamily="34" charset="-120"/>
              </a:rPr>
              <a:t>Impact</a:t>
            </a:r>
            <a:endParaRPr lang="en-US" sz="1500" dirty="0"/>
          </a:p>
        </p:txBody>
      </p:sp>
      <p:sp>
        <p:nvSpPr>
          <p:cNvPr id="9" name="Paragraph 3"/>
          <p:cNvSpPr/>
          <p:nvPr/>
        </p:nvSpPr>
        <p:spPr>
          <a:xfrm>
            <a:off x="714375" y="4000500"/>
            <a:ext cx="4630341" cy="585216"/>
          </a:xfrm>
          <a:prstGeom prst="rect">
            <a:avLst/>
          </a:prstGeom>
          <a:noFill/>
          <a:ln/>
        </p:spPr>
        <p:txBody>
          <a:bodyPr wrap="square" rtlCol="0" anchor="ctr"/>
          <a:lstStyle/>
          <a:p>
            <a:pPr algn="l" indent="0" marL="0">
              <a:buNone/>
            </a:pPr>
            <a:r>
              <a:rPr lang="en-US" sz="1208" dirty="0">
                <a:solidFill>
                  <a:srgbClr val="000000"/>
                </a:solidFill>
                <a:latin typeface="OpenSans-Regular" pitchFamily="34" charset="0"/>
                <a:ea typeface="OpenSans-Regular" pitchFamily="34" charset="-122"/>
                <a:cs typeface="OpenSans-Regular" pitchFamily="34" charset="-120"/>
              </a:rPr>
              <a:t>Improving resolution time and reducing open cases can enhance public trust and ensure more equitable service delivery across the city.</a:t>
            </a:r>
            <a:endParaRPr lang="en-US" sz="1208" dirty="0"/>
          </a:p>
        </p:txBody>
      </p:sp>
      <p:sp>
        <p:nvSpPr>
          <p:cNvPr id="10" name="StaticPath"/>
          <p:cNvSpPr/>
          <p:nvPr/>
        </p:nvSpPr>
        <p:spPr>
          <a:xfrm>
            <a:off x="-1309687" y="3810000"/>
            <a:ext cx="1737360" cy="1737360"/>
          </a:xfrm>
          <a:prstGeom prst="ellipse">
            <a:avLst/>
          </a:prstGeom>
          <a:solidFill>
            <a:srgbClr val="000000">
              <a:alpha val="0"/>
            </a:srgbClr>
          </a:solidFill>
          <a:ln w="211667">
            <a:solidFill>
              <a:srgbClr val="FF9800"/>
            </a:solidFill>
            <a:prstDash val="solid"/>
          </a:ln>
        </p:spPr>
      </p:sp>
      <p:sp>
        <p:nvSpPr>
          <p:cNvPr id="11" name="StaticPath"/>
          <p:cNvSpPr/>
          <p:nvPr/>
        </p:nvSpPr>
        <p:spPr>
          <a:xfrm>
            <a:off x="285750" y="204788"/>
            <a:ext cx="482918" cy="482917"/>
          </a:xfrm>
          <a:prstGeom prst="ellipse">
            <a:avLst/>
          </a:prstGeom>
          <a:solidFill>
            <a:srgbClr val="000000"/>
          </a:solidFill>
          <a:ln/>
        </p:spPr>
      </p:sp>
      <p:pic>
        <p:nvPicPr>
          <p:cNvPr id="12" name="StaticImage" descr="preencoded.png">    </p:cNvPr>
          <p:cNvPicPr>
            <a:picLocks noChangeAspect="1"/>
          </p:cNvPicPr>
          <p:nvPr/>
        </p:nvPicPr>
        <p:blipFill>
          <a:blip r:embed="rId1"/>
          <a:stretch>
            <a:fillRect/>
          </a:stretch>
        </p:blipFill>
        <p:spPr>
          <a:xfrm>
            <a:off x="5922264" y="640937"/>
            <a:ext cx="3214688" cy="1607344"/>
          </a:xfrm>
          <a:prstGeom prst="rect">
            <a:avLst/>
          </a:prstGeom>
        </p:spPr>
      </p:pic>
      <p:pic>
        <p:nvPicPr>
          <p:cNvPr id="13" name="StaticImage" descr="preencoded.png">    </p:cNvPr>
          <p:cNvPicPr>
            <a:picLocks noChangeAspect="1"/>
          </p:cNvPicPr>
          <p:nvPr/>
        </p:nvPicPr>
        <p:blipFill>
          <a:blip r:embed="rId2"/>
          <a:stretch>
            <a:fillRect/>
          </a:stretch>
        </p:blipFill>
        <p:spPr>
          <a:xfrm>
            <a:off x="5572125" y="2838402"/>
            <a:ext cx="3571875" cy="17859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taticPath"/>
          <p:cNvSpPr/>
          <p:nvPr/>
        </p:nvSpPr>
        <p:spPr>
          <a:xfrm>
            <a:off x="7143750" y="0"/>
            <a:ext cx="2000250" cy="5143500"/>
          </a:xfrm>
          <a:prstGeom prst="rect">
            <a:avLst/>
          </a:prstGeom>
          <a:solidFill>
            <a:srgbClr val="FF9800"/>
          </a:solidFill>
          <a:ln/>
        </p:spPr>
      </p:sp>
      <p:sp>
        <p:nvSpPr>
          <p:cNvPr id="3" name="Title"/>
          <p:cNvSpPr/>
          <p:nvPr/>
        </p:nvSpPr>
        <p:spPr>
          <a:xfrm>
            <a:off x="1190625" y="357188"/>
            <a:ext cx="5715000" cy="571500"/>
          </a:xfrm>
          <a:prstGeom prst="rect">
            <a:avLst/>
          </a:prstGeom>
          <a:noFill/>
          <a:ln/>
        </p:spPr>
        <p:txBody>
          <a:bodyPr wrap="square" rtlCol="0" anchor="ctr"/>
          <a:lstStyle/>
          <a:p>
            <a:pPr algn="l" indent="0" marL="0">
              <a:buNone/>
            </a:pPr>
            <a:r>
              <a:rPr lang="en-US" sz="1644" b="1" dirty="0">
                <a:solidFill>
                  <a:srgbClr val="333333"/>
                </a:solidFill>
                <a:latin typeface="OpenSans-Bold" pitchFamily="34" charset="0"/>
                <a:ea typeface="OpenSans-Bold" pitchFamily="34" charset="-122"/>
                <a:cs typeface="OpenSans-Bold" pitchFamily="34" charset="-120"/>
              </a:rPr>
              <a:t>Limitations &amp; Responsible Interpretation</a:t>
            </a:r>
            <a:endParaRPr lang="en-US" sz="1644" dirty="0"/>
          </a:p>
        </p:txBody>
      </p:sp>
      <p:sp>
        <p:nvSpPr>
          <p:cNvPr id="4" name="Subtitle 1"/>
          <p:cNvSpPr/>
          <p:nvPr/>
        </p:nvSpPr>
        <p:spPr>
          <a:xfrm>
            <a:off x="714375" y="1190625"/>
            <a:ext cx="5238750" cy="1428750"/>
          </a:xfrm>
          <a:prstGeom prst="rect">
            <a:avLst/>
          </a:prstGeom>
          <a:noFill/>
          <a:ln/>
        </p:spPr>
        <p:txBody>
          <a:bodyPr wrap="square" rtlCol="0" anchor="ctr"/>
          <a:lstStyle/>
          <a:p>
            <a:pPr algn="l" indent="0" marL="0">
              <a:buNone/>
            </a:pPr>
            <a:r>
              <a:rPr lang="en-US" sz="1444" b="1" dirty="0">
                <a:solidFill>
                  <a:srgbClr val="000000"/>
                </a:solidFill>
                <a:latin typeface="OpenSans-Bold" pitchFamily="34" charset="0"/>
                <a:ea typeface="OpenSans-Bold" pitchFamily="34" charset="-122"/>
                <a:cs typeface="OpenSans-Bold" pitchFamily="34" charset="-120"/>
              </a:rPr>
              <a:t>Key Limitations</a:t>
            </a:r>
            <a:endParaRPr lang="en-US" sz="1444" dirty="0"/>
          </a:p>
        </p:txBody>
      </p:sp>
      <p:sp>
        <p:nvSpPr>
          <p:cNvPr id="5" name="Paragraph 1"/>
          <p:cNvSpPr/>
          <p:nvPr/>
        </p:nvSpPr>
        <p:spPr>
          <a:xfrm>
            <a:off x="714375" y="1571625"/>
            <a:ext cx="5238750" cy="1428750"/>
          </a:xfrm>
          <a:prstGeom prst="rect">
            <a:avLst/>
          </a:prstGeom>
          <a:noFill/>
          <a:ln/>
        </p:spPr>
        <p:txBody>
          <a:bodyPr wrap="square" rtlCol="0" anchor="ctr"/>
          <a:lstStyle/>
          <a:p>
            <a:pPr algn="l" indent="0" marL="0">
              <a:buNone/>
            </a:pPr>
            <a:r>
              <a:rPr lang="en-US" sz="1122" dirty="0">
                <a:solidFill>
                  <a:srgbClr val="000000"/>
                </a:solidFill>
                <a:latin typeface="OpenSans-Regular" pitchFamily="34" charset="0"/>
                <a:ea typeface="OpenSans-Regular" pitchFamily="34" charset="-122"/>
                <a:cs typeface="OpenSans-Regular" pitchFamily="34" charset="-120"/>
              </a:rPr>
              <a:t>The dataset reflects reported violations rather than all housing issues. Complaint-driven reporting and inconsistent data quality can introduce bias and affect comparisons across neighborhoods.</a:t>
            </a:r>
            <a:endParaRPr lang="en-US" sz="1122" dirty="0"/>
          </a:p>
        </p:txBody>
      </p:sp>
      <p:sp>
        <p:nvSpPr>
          <p:cNvPr id="6" name="Subtitle 2"/>
          <p:cNvSpPr/>
          <p:nvPr/>
        </p:nvSpPr>
        <p:spPr>
          <a:xfrm>
            <a:off x="714375" y="2524125"/>
            <a:ext cx="5238750" cy="1428750"/>
          </a:xfrm>
          <a:prstGeom prst="rect">
            <a:avLst/>
          </a:prstGeom>
          <a:noFill/>
          <a:ln/>
        </p:spPr>
        <p:txBody>
          <a:bodyPr wrap="square" rtlCol="0" anchor="ctr"/>
          <a:lstStyle/>
          <a:p>
            <a:pPr algn="l" indent="0" marL="0">
              <a:buNone/>
            </a:pPr>
            <a:r>
              <a:rPr lang="en-US" sz="1444" b="1" dirty="0">
                <a:solidFill>
                  <a:srgbClr val="000000"/>
                </a:solidFill>
                <a:latin typeface="OpenSans-Bold" pitchFamily="34" charset="0"/>
                <a:ea typeface="OpenSans-Bold" pitchFamily="34" charset="-122"/>
                <a:cs typeface="OpenSans-Bold" pitchFamily="34" charset="-120"/>
              </a:rPr>
              <a:t>Interpretation Approach</a:t>
            </a:r>
            <a:endParaRPr lang="en-US" sz="1444" dirty="0"/>
          </a:p>
        </p:txBody>
      </p:sp>
      <p:sp>
        <p:nvSpPr>
          <p:cNvPr id="7" name="Paragraph 2"/>
          <p:cNvSpPr/>
          <p:nvPr/>
        </p:nvSpPr>
        <p:spPr>
          <a:xfrm>
            <a:off x="714375" y="2905125"/>
            <a:ext cx="5238750" cy="1428750"/>
          </a:xfrm>
          <a:prstGeom prst="rect">
            <a:avLst/>
          </a:prstGeom>
          <a:noFill/>
          <a:ln/>
        </p:spPr>
        <p:txBody>
          <a:bodyPr wrap="square" rtlCol="0" anchor="ctr"/>
          <a:lstStyle/>
          <a:p>
            <a:pPr algn="l" indent="0" marL="0">
              <a:buNone/>
            </a:pPr>
            <a:r>
              <a:rPr lang="en-US" sz="1122" dirty="0">
                <a:solidFill>
                  <a:srgbClr val="000000"/>
                </a:solidFill>
                <a:latin typeface="OpenSans-Regular" pitchFamily="34" charset="0"/>
                <a:ea typeface="OpenSans-Regular" pitchFamily="34" charset="-122"/>
                <a:cs typeface="OpenSans-Regular" pitchFamily="34" charset="-120"/>
              </a:rPr>
              <a:t>This analysis focuses on descriptive patterns rather than causal relationships. Findings are presented with caution to avoid overgeneralization or misleading conclusions.</a:t>
            </a:r>
            <a:endParaRPr lang="en-US" sz="1122" dirty="0"/>
          </a:p>
        </p:txBody>
      </p:sp>
      <p:sp>
        <p:nvSpPr>
          <p:cNvPr id="8" name="Subtitle 3"/>
          <p:cNvSpPr/>
          <p:nvPr/>
        </p:nvSpPr>
        <p:spPr>
          <a:xfrm>
            <a:off x="714375" y="3619500"/>
            <a:ext cx="5238750" cy="1428750"/>
          </a:xfrm>
          <a:prstGeom prst="rect">
            <a:avLst/>
          </a:prstGeom>
          <a:noFill/>
          <a:ln/>
        </p:spPr>
        <p:txBody>
          <a:bodyPr wrap="square" rtlCol="0" anchor="ctr"/>
          <a:lstStyle/>
          <a:p>
            <a:pPr algn="l" indent="0" marL="0">
              <a:buNone/>
            </a:pPr>
            <a:r>
              <a:rPr lang="en-US" sz="1444" b="1" dirty="0">
                <a:solidFill>
                  <a:srgbClr val="000000"/>
                </a:solidFill>
                <a:latin typeface="OpenSans-Bold" pitchFamily="34" charset="0"/>
                <a:ea typeface="OpenSans-Bold" pitchFamily="34" charset="-122"/>
                <a:cs typeface="OpenSans-Bold" pitchFamily="34" charset="-120"/>
              </a:rPr>
              <a:t>Future Work</a:t>
            </a:r>
            <a:endParaRPr lang="en-US" sz="1444" dirty="0"/>
          </a:p>
        </p:txBody>
      </p:sp>
      <p:sp>
        <p:nvSpPr>
          <p:cNvPr id="9" name="Paragraph 3"/>
          <p:cNvSpPr/>
          <p:nvPr/>
        </p:nvSpPr>
        <p:spPr>
          <a:xfrm>
            <a:off x="714375" y="4000500"/>
            <a:ext cx="5238750" cy="1428750"/>
          </a:xfrm>
          <a:prstGeom prst="rect">
            <a:avLst/>
          </a:prstGeom>
          <a:noFill/>
          <a:ln/>
        </p:spPr>
        <p:txBody>
          <a:bodyPr wrap="square" rtlCol="0" anchor="ctr"/>
          <a:lstStyle/>
          <a:p>
            <a:pPr algn="l" indent="0" marL="0">
              <a:buNone/>
            </a:pPr>
            <a:r>
              <a:rPr lang="en-US" sz="1122" dirty="0">
                <a:solidFill>
                  <a:srgbClr val="000000"/>
                </a:solidFill>
                <a:latin typeface="OpenSans-Regular" pitchFamily="34" charset="0"/>
                <a:ea typeface="OpenSans-Regular" pitchFamily="34" charset="-122"/>
                <a:cs typeface="OpenSans-Regular" pitchFamily="34" charset="-120"/>
              </a:rPr>
              <a:t>Future improvements could include integrating additional datasets, improving data quality, and developing predictive models to support proactive decision-making.</a:t>
            </a:r>
            <a:endParaRPr lang="en-US" sz="1122" dirty="0"/>
          </a:p>
        </p:txBody>
      </p:sp>
      <p:pic>
        <p:nvPicPr>
          <p:cNvPr id="10" name="Image" descr="preencoded.png">    </p:cNvPr>
          <p:cNvPicPr>
            <a:picLocks noChangeAspect="1"/>
          </p:cNvPicPr>
          <p:nvPr/>
        </p:nvPicPr>
        <p:blipFill>
          <a:blip r:embed="rId1"/>
          <a:stretch>
            <a:fillRect/>
          </a:stretch>
        </p:blipFill>
        <p:spPr>
          <a:xfrm>
            <a:off x="6238875" y="1333500"/>
            <a:ext cx="2352675" cy="2352675"/>
          </a:xfrm>
          <a:prstGeom prst="rect">
            <a:avLst/>
          </a:prstGeom>
        </p:spPr>
      </p:pic>
      <p:sp>
        <p:nvSpPr>
          <p:cNvPr id="11" name="StaticPath"/>
          <p:cNvSpPr/>
          <p:nvPr/>
        </p:nvSpPr>
        <p:spPr>
          <a:xfrm>
            <a:off x="-1309687" y="3810000"/>
            <a:ext cx="1737360" cy="1737360"/>
          </a:xfrm>
          <a:prstGeom prst="ellipse">
            <a:avLst/>
          </a:prstGeom>
          <a:solidFill>
            <a:srgbClr val="000000">
              <a:alpha val="0"/>
            </a:srgbClr>
          </a:solidFill>
          <a:ln w="211667">
            <a:solidFill>
              <a:srgbClr val="FF9800"/>
            </a:solidFill>
            <a:prstDash val="solid"/>
          </a:ln>
        </p:spPr>
      </p:sp>
      <p:sp>
        <p:nvSpPr>
          <p:cNvPr id="12" name="StaticPath"/>
          <p:cNvSpPr/>
          <p:nvPr/>
        </p:nvSpPr>
        <p:spPr>
          <a:xfrm>
            <a:off x="285750" y="204788"/>
            <a:ext cx="482918" cy="482917"/>
          </a:xfrm>
          <a:prstGeom prst="ellipse">
            <a:avLst/>
          </a:prstGeom>
          <a:solidFill>
            <a:srgbClr val="000000"/>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taticPath"/>
          <p:cNvSpPr/>
          <p:nvPr/>
        </p:nvSpPr>
        <p:spPr>
          <a:xfrm>
            <a:off x="-842581" y="437150"/>
            <a:ext cx="4014788" cy="4014788"/>
          </a:xfrm>
          <a:prstGeom prst="ellipse">
            <a:avLst/>
          </a:prstGeom>
          <a:solidFill>
            <a:srgbClr val="000000">
              <a:alpha val="4000"/>
            </a:srgbClr>
          </a:solidFill>
          <a:ln/>
        </p:spPr>
      </p:sp>
      <p:sp>
        <p:nvSpPr>
          <p:cNvPr id="3" name="Title"/>
          <p:cNvSpPr/>
          <p:nvPr/>
        </p:nvSpPr>
        <p:spPr>
          <a:xfrm>
            <a:off x="285417" y="2160080"/>
            <a:ext cx="3467148" cy="823389"/>
          </a:xfrm>
          <a:prstGeom prst="rect">
            <a:avLst/>
          </a:prstGeom>
          <a:noFill/>
          <a:ln/>
        </p:spPr>
        <p:txBody>
          <a:bodyPr wrap="square" rtlCol="0" anchor="ctr"/>
          <a:lstStyle/>
          <a:p>
            <a:pPr algn="l" indent="0" marL="0">
              <a:buNone/>
            </a:pPr>
            <a:r>
              <a:rPr lang="en-US" sz="2885" b="1" dirty="0">
                <a:solidFill>
                  <a:srgbClr val="000000"/>
                </a:solidFill>
                <a:latin typeface="OpenSans-Bold" pitchFamily="34" charset="0"/>
                <a:ea typeface="OpenSans-Bold" pitchFamily="34" charset="-122"/>
                <a:cs typeface="OpenSans-Bold" pitchFamily="34" charset="-120"/>
              </a:rPr>
              <a:t>Conclusion &amp; Civic Impact</a:t>
            </a:r>
            <a:endParaRPr lang="en-US" sz="2885" dirty="0"/>
          </a:p>
        </p:txBody>
      </p:sp>
      <p:sp>
        <p:nvSpPr>
          <p:cNvPr id="4" name="StaticPath"/>
          <p:cNvSpPr/>
          <p:nvPr/>
        </p:nvSpPr>
        <p:spPr>
          <a:xfrm>
            <a:off x="6677739" y="195072"/>
            <a:ext cx="911543" cy="911543"/>
          </a:xfrm>
          <a:prstGeom prst="ellipse">
            <a:avLst/>
          </a:prstGeom>
          <a:solidFill>
            <a:srgbClr val="000000"/>
          </a:solidFill>
          <a:ln/>
        </p:spPr>
      </p:sp>
      <p:sp>
        <p:nvSpPr>
          <p:cNvPr id="5" name="StaticPath"/>
          <p:cNvSpPr/>
          <p:nvPr/>
        </p:nvSpPr>
        <p:spPr>
          <a:xfrm>
            <a:off x="7963376" y="4002548"/>
            <a:ext cx="677228" cy="677228"/>
          </a:xfrm>
          <a:prstGeom prst="ellipse">
            <a:avLst/>
          </a:prstGeom>
          <a:solidFill>
            <a:srgbClr val="FF9800"/>
          </a:solidFill>
          <a:ln/>
        </p:spPr>
      </p:sp>
      <p:sp>
        <p:nvSpPr>
          <p:cNvPr id="6" name="StaticPath"/>
          <p:cNvSpPr/>
          <p:nvPr/>
        </p:nvSpPr>
        <p:spPr>
          <a:xfrm>
            <a:off x="-1162717" y="-991076"/>
            <a:ext cx="2514600" cy="2514600"/>
          </a:xfrm>
          <a:prstGeom prst="ellipse">
            <a:avLst/>
          </a:prstGeom>
          <a:solidFill>
            <a:srgbClr val="000000">
              <a:alpha val="0"/>
            </a:srgbClr>
          </a:solidFill>
          <a:ln w="423333">
            <a:solidFill>
              <a:srgbClr val="FF9800"/>
            </a:solidFill>
            <a:prstDash val="solid"/>
          </a:ln>
        </p:spPr>
      </p:sp>
      <p:sp>
        <p:nvSpPr>
          <p:cNvPr id="7" name="Question topic"/>
          <p:cNvSpPr/>
          <p:nvPr/>
        </p:nvSpPr>
        <p:spPr>
          <a:xfrm>
            <a:off x="2950607" y="689991"/>
            <a:ext cx="2286000" cy="301371"/>
          </a:xfrm>
          <a:prstGeom prst="rect">
            <a:avLst/>
          </a:prstGeom>
          <a:noFill/>
          <a:ln/>
        </p:spPr>
        <p:txBody>
          <a:bodyPr wrap="square" rtlCol="0" anchor="ctr"/>
          <a:lstStyle/>
          <a:p>
            <a:pPr algn="ctr" indent="0" marL="0">
              <a:buNone/>
            </a:pPr>
            <a:r>
              <a:rPr lang="en-US" sz="2033" dirty="0">
                <a:solidFill>
                  <a:srgbClr val="000000"/>
                </a:solidFill>
                <a:latin typeface="OpenSans-Regular" pitchFamily="34" charset="0"/>
                <a:ea typeface="OpenSans-Regular" pitchFamily="34" charset="-122"/>
                <a:cs typeface="OpenSans-Regular" pitchFamily="34" charset="-120"/>
              </a:rPr>
              <a:t>Impact</a:t>
            </a:r>
            <a:endParaRPr lang="en-US" sz="2033" dirty="0"/>
          </a:p>
        </p:txBody>
      </p:sp>
      <p:sp>
        <p:nvSpPr>
          <p:cNvPr id="8" name="Text"/>
          <p:cNvSpPr/>
          <p:nvPr/>
        </p:nvSpPr>
        <p:spPr>
          <a:xfrm>
            <a:off x="5193649" y="2192369"/>
            <a:ext cx="2810589" cy="1431512"/>
          </a:xfrm>
          <a:prstGeom prst="rect">
            <a:avLst/>
          </a:prstGeom>
          <a:noFill/>
          <a:ln/>
        </p:spPr>
        <p:txBody>
          <a:bodyPr wrap="square" rtlCol="0" anchor="ctr"/>
          <a:lstStyle/>
          <a:p>
            <a:pPr algn="l" indent="0" marL="0">
              <a:buNone/>
            </a:pPr>
            <a:r>
              <a:rPr lang="en-US" sz="756" dirty="0">
                <a:solidFill>
                  <a:srgbClr val="000000"/>
                </a:solidFill>
                <a:latin typeface="OpenSans-Regular" pitchFamily="34" charset="0"/>
                <a:ea typeface="OpenSans-Regular" pitchFamily="34" charset="-122"/>
                <a:cs typeface="OpenSans-Regular" pitchFamily="34" charset="-120"/>
              </a:rPr>
              <a:t>This project transforms Syracuse open data into clear, actionable insights that support residents, policymakers, and community organizations. By improving transparency and highlighting patterns in housing conditions, it contributes to better-informed decision-making and more effective city services.</a:t>
            </a:r>
            <a:endParaRPr lang="en-US" sz="756" dirty="0"/>
          </a:p>
        </p:txBody>
      </p:sp>
      <p:sp>
        <p:nvSpPr>
          <p:cNvPr id="9" name="Question"/>
          <p:cNvSpPr/>
          <p:nvPr/>
        </p:nvSpPr>
        <p:spPr>
          <a:xfrm>
            <a:off x="5408343" y="1518428"/>
            <a:ext cx="2381250" cy="258318"/>
          </a:xfrm>
          <a:prstGeom prst="rect">
            <a:avLst/>
          </a:prstGeom>
          <a:noFill/>
          <a:ln/>
        </p:spPr>
        <p:txBody>
          <a:bodyPr wrap="square" rtlCol="0" anchor="ctr"/>
          <a:lstStyle/>
          <a:p>
            <a:pPr algn="ctr" indent="0" marL="0">
              <a:buNone/>
            </a:pPr>
            <a:r>
              <a:rPr lang="en-US" sz="1176" dirty="0">
                <a:solidFill>
                  <a:srgbClr val="000000"/>
                </a:solidFill>
                <a:latin typeface="OpenSans-Regular" pitchFamily="34" charset="0"/>
                <a:ea typeface="OpenSans-Regular" pitchFamily="34" charset="-122"/>
                <a:cs typeface="OpenSans-Regular" pitchFamily="34" charset="-120"/>
              </a:rPr>
              <a:t>What value does this project provide?</a:t>
            </a:r>
            <a:endParaRPr lang="en-US" sz="1176" dirty="0"/>
          </a:p>
        </p:txBody>
      </p:sp>
      <p:sp>
        <p:nvSpPr>
          <p:cNvPr id="10" name="StaticPath"/>
          <p:cNvSpPr/>
          <p:nvPr/>
        </p:nvSpPr>
        <p:spPr>
          <a:xfrm>
            <a:off x="2976229" y="323231"/>
            <a:ext cx="2128838" cy="1020128"/>
          </a:xfrm>
          <a:prstGeom prst="ellipse">
            <a:avLst/>
          </a:prstGeom>
          <a:solidFill>
            <a:srgbClr val="000000">
              <a:alpha val="0"/>
            </a:srgbClr>
          </a:solidFill>
          <a:ln w="12700">
            <a:solidFill>
              <a:srgbClr val="000000"/>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2026-04-01T03:40:52Z</dcterms:created>
  <dcterms:modified xsi:type="dcterms:W3CDTF">2026-04-01T03:40:52Z</dcterms:modified>
</cp:coreProperties>
</file>